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691" y="2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2697480"/>
            <a:ext cx="10725912" cy="64008"/>
          </a:xfrm>
          <a:prstGeom prst="rect">
            <a:avLst/>
          </a:prstGeom>
          <a:solidFill>
            <a:srgbClr val="C9A0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72591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What Drives the Persistence
in Current Account Imbalances?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7259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8D8F0"/>
                </a:solidFill>
                <a:latin typeface="Calibri"/>
              </a:rPr>
              <a:t>Eric Clower  ·  Hiro Ito  ·  Jamel Saadaoui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20440"/>
            <a:ext cx="107259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A0B8D8"/>
                </a:solidFill>
                <a:latin typeface="Calibri"/>
              </a:rPr>
              <a:t>Aptech Systems, Inc.  ·  Portland State University  ·  Université Paris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035040"/>
            <a:ext cx="107259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C9A027"/>
                </a:solidFill>
                <a:latin typeface="Calibri"/>
              </a:rPr>
              <a:t>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59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Motivation: Why Does Persistence Matter?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510528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808080"/>
                </a:solidFill>
                <a:latin typeface="Calibri"/>
              </a:rPr>
              <a:t>2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11365992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900">
                <a:solidFill>
                  <a:srgbClr val="1A1A2E"/>
                </a:solidFill>
                <a:latin typeface="Calibri"/>
              </a:rPr>
              <a:t>  •  Global current account imbalances have grown in magnitude and dispersion since the 1980s</a:t>
            </a:r>
          </a:p>
          <a:p>
            <a:pPr algn="l">
              <a:spcBef>
                <a:spcPts val="200"/>
              </a:spcBef>
            </a:pPr>
            <a:r>
              <a:rPr sz="1700">
                <a:solidFill>
                  <a:srgbClr val="808080"/>
                </a:solidFill>
                <a:latin typeface="Calibri"/>
              </a:rPr>
              <a:t>  –  The cross-sectional variance of CA balances has roughly doubled since financial globalization accelerated</a:t>
            </a:r>
          </a:p>
          <a:p>
            <a:pPr algn="l">
              <a:spcBef>
                <a:spcPts val="400"/>
              </a:spcBef>
            </a:pPr>
            <a:r>
              <a:rPr sz="1900">
                <a:solidFill>
                  <a:srgbClr val="1A1A2E"/>
                </a:solidFill>
                <a:latin typeface="Calibri"/>
              </a:rPr>
              <a:t>  •  Persistent deficits and surpluses trigger serious policy concerns</a:t>
            </a:r>
          </a:p>
          <a:p>
            <a:pPr algn="l">
              <a:spcBef>
                <a:spcPts val="200"/>
              </a:spcBef>
            </a:pPr>
            <a:r>
              <a:rPr sz="1700">
                <a:solidFill>
                  <a:srgbClr val="808080"/>
                </a:solidFill>
                <a:latin typeface="Calibri"/>
              </a:rPr>
              <a:t>  –  Credit downgrades, speculative attacks on government bonds, fiscal policy constraints</a:t>
            </a:r>
          </a:p>
          <a:p>
            <a:pPr algn="l">
              <a:spcBef>
                <a:spcPts val="200"/>
              </a:spcBef>
            </a:pPr>
            <a:r>
              <a:rPr sz="1700">
                <a:solidFill>
                  <a:srgbClr val="808080"/>
                </a:solidFill>
                <a:latin typeface="Calibri"/>
              </a:rPr>
              <a:t>  –  Even advanced economies affected — Moody’s downgraded the US in May 2025</a:t>
            </a:r>
          </a:p>
          <a:p>
            <a:pPr algn="l">
              <a:spcBef>
                <a:spcPts val="400"/>
              </a:spcBef>
            </a:pPr>
            <a:r>
              <a:rPr sz="1900">
                <a:solidFill>
                  <a:srgbClr val="1A1A2E"/>
                </a:solidFill>
                <a:latin typeface="Calibri"/>
              </a:rPr>
              <a:t>  •  Standard theory is clear: the CA should revert to zero in the long run</a:t>
            </a:r>
          </a:p>
          <a:p>
            <a:pPr algn="l">
              <a:spcBef>
                <a:spcPts val="200"/>
              </a:spcBef>
            </a:pPr>
            <a:r>
              <a:rPr sz="1700">
                <a:solidFill>
                  <a:srgbClr val="808080"/>
                </a:solidFill>
                <a:latin typeface="Calibri"/>
              </a:rPr>
              <a:t>  –  Intertemporal budget constraint (LRBC) requires stationarity of the current account</a:t>
            </a:r>
          </a:p>
          <a:p>
            <a:pPr algn="l">
              <a:spcBef>
                <a:spcPts val="400"/>
              </a:spcBef>
            </a:pPr>
            <a:r>
              <a:rPr sz="1900">
                <a:solidFill>
                  <a:srgbClr val="1A1A2E"/>
                </a:solidFill>
                <a:latin typeface="Calibri"/>
              </a:rPr>
              <a:t>  •  Empirical tests produce contradictory and inconclusive results</a:t>
            </a:r>
          </a:p>
          <a:p>
            <a:pPr algn="l">
              <a:spcBef>
                <a:spcPts val="200"/>
              </a:spcBef>
            </a:pPr>
            <a:r>
              <a:rPr sz="1700">
                <a:solidFill>
                  <a:srgbClr val="808080"/>
                </a:solidFill>
                <a:latin typeface="Calibri"/>
              </a:rPr>
              <a:t>  –  Same country, different unit root tests, different conclusions</a:t>
            </a:r>
          </a:p>
          <a:p>
            <a:pPr algn="l">
              <a:spcBef>
                <a:spcPts val="400"/>
              </a:spcBef>
            </a:pPr>
            <a:r>
              <a:rPr sz="1900">
                <a:solidFill>
                  <a:srgbClr val="1A1A2E"/>
                </a:solidFill>
                <a:latin typeface="Calibri"/>
              </a:rPr>
              <a:t>  •  →  What structural factors push a country toward explosive, persistent, or self-correcting dynamics?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59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Our Approach: A Two-Stage Empirical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510528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808080"/>
                </a:solidFill>
                <a:latin typeface="Calibri"/>
              </a:rPr>
              <a:t>3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280160"/>
            <a:ext cx="5303520" cy="2286000"/>
          </a:xfrm>
          <a:prstGeom prst="rect">
            <a:avLst/>
          </a:prstGeom>
          <a:solidFill>
            <a:srgbClr val="E8ED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389888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0"/>
              </a:spcBef>
            </a:pPr>
            <a:r>
              <a:rPr sz="1600" b="1" i="0">
                <a:solidFill>
                  <a:srgbClr val="1F3864"/>
                </a:solidFill>
                <a:latin typeface="Calibri"/>
              </a:rPr>
              <a:t>Stage 1 — Regime Classification</a:t>
            </a:r>
          </a:p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1A1A2E"/>
                </a:solidFill>
                <a:latin typeface="Calibri"/>
              </a:rPr>
              <a:t>Estimate a Markov-switching AR model for each country</a:t>
            </a:r>
          </a:p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1A1A2E"/>
                </a:solidFill>
                <a:latin typeface="Calibri"/>
              </a:rPr>
              <a:t>→  Classify each country-year observation as:</a:t>
            </a:r>
          </a:p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2E5BA8"/>
                </a:solidFill>
                <a:latin typeface="Calibri"/>
              </a:rPr>
              <a:t>      Explosive  |  Unit root  |  Stationary</a:t>
            </a:r>
          </a:p>
          <a:p>
            <a:pPr algn="l">
              <a:spcBef>
                <a:spcPts val="0"/>
              </a:spcBef>
            </a:pPr>
            <a:r>
              <a:rPr sz="1400" b="0" i="1">
                <a:solidFill>
                  <a:srgbClr val="808080"/>
                </a:solidFill>
                <a:latin typeface="Calibri"/>
              </a:rPr>
              <a:t>74 countries, annual data, 1985–2023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2057400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>
                <a:solidFill>
                  <a:srgbClr val="C9A027"/>
                </a:solidFill>
                <a:latin typeface="Calibri"/>
              </a:rPr>
              <a:t>➔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0" y="1280160"/>
            <a:ext cx="4892040" cy="2286000"/>
          </a:xfrm>
          <a:prstGeom prst="rect">
            <a:avLst/>
          </a:prstGeom>
          <a:solidFill>
            <a:srgbClr val="E8ED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995160" y="1389888"/>
            <a:ext cx="4572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0"/>
              </a:spcBef>
            </a:pPr>
            <a:r>
              <a:rPr sz="1600" b="1" i="0">
                <a:solidFill>
                  <a:srgbClr val="1F3864"/>
                </a:solidFill>
                <a:latin typeface="Calibri"/>
              </a:rPr>
              <a:t>Stage 2 — Structural Determinants</a:t>
            </a:r>
          </a:p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1A1A2E"/>
                </a:solidFill>
                <a:latin typeface="Calibri"/>
              </a:rPr>
              <a:t>Estimate a multinomial logit (MNL) model</a:t>
            </a:r>
          </a:p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1A1A2E"/>
                </a:solidFill>
                <a:latin typeface="Calibri"/>
              </a:rPr>
              <a:t>→  Outcome: regime from Stage 1</a:t>
            </a:r>
          </a:p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1A1A2E"/>
                </a:solidFill>
                <a:latin typeface="Calibri"/>
              </a:rPr>
              <a:t>→  Explain using structural country characteristics</a:t>
            </a:r>
          </a:p>
          <a:p>
            <a:pPr algn="l">
              <a:spcBef>
                <a:spcPts val="0"/>
              </a:spcBef>
            </a:pPr>
            <a:r>
              <a:rPr sz="1400" b="0" i="1">
                <a:solidFill>
                  <a:srgbClr val="808080"/>
                </a:solidFill>
                <a:latin typeface="Calibri"/>
              </a:rPr>
              <a:t>Cluster-robust SEs, country-level clusters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023360"/>
            <a:ext cx="113659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0"/>
              </a:spcBef>
            </a:pPr>
            <a:r>
              <a:rPr sz="1400" b="0" i="1">
                <a:solidFill>
                  <a:srgbClr val="808080"/>
                </a:solidFill>
                <a:latin typeface="Calibri"/>
              </a:rPr>
              <a:t>Key contribution: two-stage design separates time-series characterization from cross-sectional policy analysis — regime classifications feed directly into the multinomial model.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59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Fact: Global CA Imbalances Are Larger and More Dispersed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510528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808080"/>
                </a:solidFill>
                <a:latin typeface="Calibri"/>
              </a:rPr>
              <a:t>4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11365992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900">
                <a:solidFill>
                  <a:srgbClr val="1A1A2E"/>
                </a:solidFill>
                <a:latin typeface="Calibri"/>
              </a:rPr>
              <a:t>  •  The mean absolute current account balance (% GDP) has roughly doubled since the early 1980s</a:t>
            </a:r>
          </a:p>
          <a:p>
            <a:pPr algn="l">
              <a:spcBef>
                <a:spcPts val="200"/>
              </a:spcBef>
            </a:pPr>
            <a:r>
              <a:rPr sz="1700">
                <a:solidFill>
                  <a:srgbClr val="808080"/>
                </a:solidFill>
                <a:latin typeface="Calibri"/>
              </a:rPr>
              <a:t>  –  Financial globalization has expanded access to external financing, relaxing short-run adjustment</a:t>
            </a:r>
          </a:p>
          <a:p>
            <a:pPr algn="l">
              <a:spcBef>
                <a:spcPts val="400"/>
              </a:spcBef>
            </a:pPr>
            <a:r>
              <a:rPr sz="1900">
                <a:solidFill>
                  <a:srgbClr val="1A1A2E"/>
                </a:solidFill>
                <a:latin typeface="Calibri"/>
              </a:rPr>
              <a:t>  •  The distribution of CA balances has widened over time</a:t>
            </a:r>
          </a:p>
          <a:p>
            <a:pPr algn="l">
              <a:spcBef>
                <a:spcPts val="200"/>
              </a:spcBef>
            </a:pPr>
            <a:r>
              <a:rPr sz="1700">
                <a:solidFill>
                  <a:srgbClr val="808080"/>
                </a:solidFill>
                <a:latin typeface="Calibri"/>
              </a:rPr>
              <a:t>  –  Median is relatively stable; the tails have grown fatter — more extreme surpluses and deficits</a:t>
            </a:r>
          </a:p>
          <a:p>
            <a:pPr algn="l">
              <a:spcBef>
                <a:spcPts val="400"/>
              </a:spcBef>
            </a:pPr>
            <a:r>
              <a:rPr sz="1900">
                <a:solidFill>
                  <a:srgbClr val="1A1A2E"/>
                </a:solidFill>
                <a:latin typeface="Calibri"/>
              </a:rPr>
              <a:t>  •  Sharp cyclical spikes around the GFC (2008–09) and COVID (2020–21) recessions</a:t>
            </a:r>
          </a:p>
          <a:p>
            <a:pPr algn="l">
              <a:spcBef>
                <a:spcPts val="200"/>
              </a:spcBef>
            </a:pPr>
            <a:r>
              <a:rPr sz="1700">
                <a:solidFill>
                  <a:srgbClr val="808080"/>
                </a:solidFill>
                <a:latin typeface="Calibri"/>
              </a:rPr>
              <a:t>  –  Followed by partial reversion, but not full convergence</a:t>
            </a:r>
          </a:p>
          <a:p>
            <a:pPr algn="l">
              <a:spcBef>
                <a:spcPts val="400"/>
              </a:spcBef>
            </a:pPr>
            <a:r>
              <a:rPr sz="1900">
                <a:solidFill>
                  <a:srgbClr val="1A1A2E"/>
                </a:solidFill>
                <a:latin typeface="Calibri"/>
              </a:rPr>
              <a:t>  •  Cross-country heterogeneity is pronounced</a:t>
            </a:r>
          </a:p>
          <a:p>
            <a:pPr algn="l">
              <a:spcBef>
                <a:spcPts val="200"/>
              </a:spcBef>
            </a:pPr>
            <a:r>
              <a:rPr sz="1700">
                <a:solidFill>
                  <a:srgbClr val="808080"/>
                </a:solidFill>
                <a:latin typeface="Calibri"/>
              </a:rPr>
              <a:t>  –  Advanced: moderate, stable imbalances</a:t>
            </a:r>
          </a:p>
          <a:p>
            <a:pPr algn="l">
              <a:spcBef>
                <a:spcPts val="200"/>
              </a:spcBef>
            </a:pPr>
            <a:r>
              <a:rPr sz="1700">
                <a:solidFill>
                  <a:srgbClr val="808080"/>
                </a:solidFill>
                <a:latin typeface="Calibri"/>
              </a:rPr>
              <a:t>  –  Emerging: larger cyclical swings, higher explosive frequencies</a:t>
            </a:r>
          </a:p>
          <a:p>
            <a:pPr algn="l">
              <a:spcBef>
                <a:spcPts val="200"/>
              </a:spcBef>
            </a:pPr>
            <a:r>
              <a:rPr sz="1700">
                <a:solidFill>
                  <a:srgbClr val="808080"/>
                </a:solidFill>
                <a:latin typeface="Calibri"/>
              </a:rPr>
              <a:t>  –  Less-developed: most volatile, least mean-reverting</a:t>
            </a:r>
          </a:p>
          <a:p>
            <a:pPr algn="l">
              <a:spcBef>
                <a:spcPts val="400"/>
              </a:spcBef>
            </a:pPr>
            <a:r>
              <a:rPr sz="1900">
                <a:solidFill>
                  <a:srgbClr val="1A1A2E"/>
                </a:solidFill>
                <a:latin typeface="Calibri"/>
              </a:rPr>
              <a:t>  •  →  Persistence is the norm; the extent varies systematically with country characteristics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00800"/>
            <a:ext cx="11365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0"/>
              </a:spcBef>
            </a:pPr>
            <a:r>
              <a:rPr sz="1200" b="0" i="1">
                <a:solidFill>
                  <a:srgbClr val="808080"/>
                </a:solidFill>
                <a:latin typeface="Calibri"/>
              </a:rPr>
              <a:t>Figures 1–3 in paper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59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Theory: Sustainability Requires Stationarity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510528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808080"/>
                </a:solidFill>
                <a:latin typeface="Calibri"/>
              </a:rPr>
              <a:t>5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11365992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900">
                <a:solidFill>
                  <a:srgbClr val="1A1A2E"/>
                </a:solidFill>
                <a:latin typeface="Calibri"/>
              </a:rPr>
              <a:t>  •  The intertemporal approach provides the standard benchmark (Trehan &amp; Walsh 1991; Taylor 2002)</a:t>
            </a:r>
          </a:p>
          <a:p>
            <a:pPr algn="l">
              <a:spcBef>
                <a:spcPts val="200"/>
              </a:spcBef>
            </a:pPr>
            <a:r>
              <a:rPr sz="1700">
                <a:solidFill>
                  <a:srgbClr val="808080"/>
                </a:solidFill>
                <a:latin typeface="Calibri"/>
              </a:rPr>
              <a:t>  –  LRBC: current account stationarity (as % of GDP) is a necessary condition for external sustainability</a:t>
            </a:r>
          </a:p>
          <a:p>
            <a:pPr algn="l">
              <a:spcBef>
                <a:spcPts val="200"/>
              </a:spcBef>
            </a:pPr>
            <a:r>
              <a:rPr sz="1700">
                <a:solidFill>
                  <a:srgbClr val="808080"/>
                </a:solidFill>
                <a:latin typeface="Calibri"/>
              </a:rPr>
              <a:t>  –  Unit root → permanent shocks; Explosive → diverging dynamics</a:t>
            </a:r>
          </a:p>
          <a:p>
            <a:pPr algn="l">
              <a:spcBef>
                <a:spcPts val="400"/>
              </a:spcBef>
            </a:pPr>
            <a:r>
              <a:rPr sz="1900">
                <a:solidFill>
                  <a:srgbClr val="1A1A2E"/>
                </a:solidFill>
                <a:latin typeface="Calibri"/>
              </a:rPr>
              <a:t>  •  But: stationarity is a long-run property — episodes of local non-stationarity may be consistent with global sustainability</a:t>
            </a:r>
          </a:p>
          <a:p>
            <a:pPr algn="l">
              <a:spcBef>
                <a:spcPts val="200"/>
              </a:spcBef>
            </a:pPr>
            <a:r>
              <a:rPr sz="1700">
                <a:solidFill>
                  <a:srgbClr val="808080"/>
                </a:solidFill>
                <a:latin typeface="Calibri"/>
              </a:rPr>
              <a:t>  –  A CA may be locally explosive during a crisis yet globally sustainable if episodes are transient</a:t>
            </a:r>
          </a:p>
          <a:p>
            <a:pPr algn="l">
              <a:spcBef>
                <a:spcPts val="200"/>
              </a:spcBef>
            </a:pPr>
            <a:r>
              <a:rPr sz="1700">
                <a:solidFill>
                  <a:srgbClr val="808080"/>
                </a:solidFill>
                <a:latin typeface="Calibri"/>
              </a:rPr>
              <a:t>  –  Markov-switching framework handles this directly via global stationarity conditions (Psaradakis et al. 2004)</a:t>
            </a:r>
          </a:p>
          <a:p>
            <a:pPr algn="l">
              <a:spcBef>
                <a:spcPts val="400"/>
              </a:spcBef>
            </a:pPr>
            <a:r>
              <a:rPr sz="1900">
                <a:solidFill>
                  <a:srgbClr val="1A1A2E"/>
                </a:solidFill>
                <a:latin typeface="Calibri"/>
              </a:rPr>
              <a:t>  •  Bohn (1998) fiscal reaction-function approach: sustainability holds if the primary surplus responds positively to debt accumulation</a:t>
            </a:r>
          </a:p>
          <a:p>
            <a:pPr algn="l">
              <a:spcBef>
                <a:spcPts val="200"/>
              </a:spcBef>
            </a:pPr>
            <a:r>
              <a:rPr sz="1700">
                <a:solidFill>
                  <a:srgbClr val="808080"/>
                </a:solidFill>
                <a:latin typeface="Calibri"/>
              </a:rPr>
              <a:t>  –  Complements the unit root perspective: both require that adjustment mechanisms are active</a:t>
            </a:r>
          </a:p>
          <a:p>
            <a:pPr algn="l">
              <a:spcBef>
                <a:spcPts val="400"/>
              </a:spcBef>
            </a:pPr>
            <a:r>
              <a:rPr sz="1900">
                <a:solidFill>
                  <a:srgbClr val="1A1A2E"/>
                </a:solidFill>
                <a:latin typeface="Calibri"/>
              </a:rPr>
              <a:t>  •  →  We need a model that allows dynamics to differ across time periods within each country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59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Problem: Linear Unit Root Tests Give Inconsistent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510528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808080"/>
                </a:solidFill>
                <a:latin typeface="Calibri"/>
              </a:rPr>
              <a:t>6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11365992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900">
                <a:solidFill>
                  <a:srgbClr val="1A1A2E"/>
                </a:solidFill>
                <a:latin typeface="Calibri"/>
              </a:rPr>
              <a:t>  •  Standard linear tests (ADF, DFGLS, Phillips-Perron) applied to CA/GDP across 74 countries</a:t>
            </a:r>
          </a:p>
          <a:p>
            <a:pPr algn="l">
              <a:spcBef>
                <a:spcPts val="400"/>
              </a:spcBef>
            </a:pPr>
            <a:r>
              <a:rPr sz="1900">
                <a:solidFill>
                  <a:srgbClr val="1A1A2E"/>
                </a:solidFill>
                <a:latin typeface="Calibri"/>
              </a:rPr>
              <a:t>  •  Results are contradictory and sensitive to the choice of test</a:t>
            </a:r>
          </a:p>
          <a:p>
            <a:pPr algn="l">
              <a:spcBef>
                <a:spcPts val="200"/>
              </a:spcBef>
            </a:pPr>
            <a:r>
              <a:rPr sz="1700">
                <a:solidFill>
                  <a:srgbClr val="808080"/>
                </a:solidFill>
                <a:latin typeface="Calibri"/>
              </a:rPr>
              <a:t>  –  ADF and DFGLS: roughly half of countries cannot reject the unit root null</a:t>
            </a:r>
          </a:p>
          <a:p>
            <a:pPr algn="l">
              <a:spcBef>
                <a:spcPts val="200"/>
              </a:spcBef>
            </a:pPr>
            <a:r>
              <a:rPr sz="1700">
                <a:solidFill>
                  <a:srgbClr val="808080"/>
                </a:solidFill>
                <a:latin typeface="Calibri"/>
              </a:rPr>
              <a:t>  –  Phillips-Perron: many more rejections — same country, opposite conclusion</a:t>
            </a:r>
          </a:p>
          <a:p>
            <a:pPr algn="l">
              <a:spcBef>
                <a:spcPts val="400"/>
              </a:spcBef>
            </a:pPr>
            <a:r>
              <a:rPr sz="1900">
                <a:solidFill>
                  <a:srgbClr val="1A1A2E"/>
                </a:solidFill>
                <a:latin typeface="Calibri"/>
              </a:rPr>
              <a:t>  •  Root cause: linear tests assume constant AR parameters across time</a:t>
            </a:r>
          </a:p>
          <a:p>
            <a:pPr algn="l">
              <a:spcBef>
                <a:spcPts val="200"/>
              </a:spcBef>
            </a:pPr>
            <a:r>
              <a:rPr sz="1700">
                <a:solidFill>
                  <a:srgbClr val="808080"/>
                </a:solidFill>
                <a:latin typeface="Calibri"/>
              </a:rPr>
              <a:t>  –  When persistence or volatility shifts (policy changes, crises), linear tests confound regime changes with structural non-stationarity</a:t>
            </a:r>
          </a:p>
          <a:p>
            <a:pPr algn="l">
              <a:spcBef>
                <a:spcPts val="400"/>
              </a:spcBef>
            </a:pPr>
            <a:r>
              <a:rPr sz="1900">
                <a:solidFill>
                  <a:srgbClr val="1A1A2E"/>
                </a:solidFill>
                <a:latin typeface="Calibri"/>
              </a:rPr>
              <a:t>  •  We treat these results as a descriptive baseline, not a verdict</a:t>
            </a:r>
          </a:p>
          <a:p>
            <a:pPr algn="l">
              <a:spcBef>
                <a:spcPts val="400"/>
              </a:spcBef>
            </a:pPr>
            <a:r>
              <a:rPr sz="1900">
                <a:solidFill>
                  <a:srgbClr val="1A1A2E"/>
                </a:solidFill>
                <a:latin typeface="Calibri"/>
              </a:rPr>
              <a:t>  •  →  The correct framework must allow dynamics to change over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00800"/>
            <a:ext cx="11365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0"/>
              </a:spcBef>
            </a:pPr>
            <a:r>
              <a:rPr sz="1200" b="0" i="1">
                <a:solidFill>
                  <a:srgbClr val="808080"/>
                </a:solidFill>
                <a:latin typeface="Calibri"/>
              </a:rPr>
              <a:t>Figure 4 in paper | Appendix 2: country-by-country results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59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Stage 1: Markov-Switching AR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510528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808080"/>
                </a:solidFill>
                <a:latin typeface="Calibri"/>
              </a:rPr>
              <a:t>7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11365992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900">
                <a:solidFill>
                  <a:srgbClr val="1A1A2E"/>
                </a:solidFill>
                <a:latin typeface="Calibri"/>
              </a:rPr>
              <a:t>  •  MS-AR(1) model with independently switching intercept (μ), AR coefficient (ρ), and variance (σ²)</a:t>
            </a:r>
          </a:p>
          <a:p>
            <a:pPr algn="l">
              <a:spcBef>
                <a:spcPts val="200"/>
              </a:spcBef>
            </a:pPr>
            <a:r>
              <a:rPr sz="1700">
                <a:solidFill>
                  <a:srgbClr val="808080"/>
                </a:solidFill>
                <a:latin typeface="Calibri"/>
              </a:rPr>
              <a:t>  –  Each component follows an independent two-state Markov chain</a:t>
            </a:r>
          </a:p>
          <a:p>
            <a:pPr algn="l">
              <a:spcBef>
                <a:spcPts val="200"/>
              </a:spcBef>
            </a:pPr>
            <a:r>
              <a:rPr sz="1700">
                <a:solidFill>
                  <a:srgbClr val="808080"/>
                </a:solidFill>
                <a:latin typeface="Calibri"/>
              </a:rPr>
              <a:t>  –  Allows persistence and volatility to evolve separately — critical for robust inference</a:t>
            </a:r>
          </a:p>
          <a:p>
            <a:pPr algn="l">
              <a:spcBef>
                <a:spcPts val="400"/>
              </a:spcBef>
            </a:pPr>
            <a:r>
              <a:rPr sz="1900">
                <a:solidFill>
                  <a:srgbClr val="1A1A2E"/>
                </a:solidFill>
                <a:latin typeface="Calibri"/>
              </a:rPr>
              <a:t>  •  Three regime types, classified by estimated persistence parameter ρ: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3200400"/>
            <a:ext cx="3383280" cy="1234440"/>
          </a:xfrm>
          <a:prstGeom prst="rect">
            <a:avLst/>
          </a:prstGeom>
          <a:solidFill>
            <a:srgbClr val="27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21208" y="3310128"/>
            <a:ext cx="316382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ctr">
              <a:spcBef>
                <a:spcPts val="0"/>
              </a:spcBef>
            </a:pPr>
            <a:r>
              <a:rPr sz="1800" b="1" i="0">
                <a:solidFill>
                  <a:srgbClr val="FFFFFF"/>
                </a:solidFill>
                <a:latin typeface="Calibri"/>
              </a:rPr>
              <a:t>Stationary</a:t>
            </a:r>
          </a:p>
          <a:p>
            <a:pPr algn="ctr">
              <a:spcBef>
                <a:spcPts val="0"/>
              </a:spcBef>
            </a:pPr>
            <a:r>
              <a:rPr sz="1500" b="0" i="0">
                <a:solidFill>
                  <a:srgbClr val="FFFFFF"/>
                </a:solidFill>
                <a:latin typeface="Calibri"/>
              </a:rPr>
              <a:t>|ρ| &lt;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069080" y="3200400"/>
            <a:ext cx="3383280" cy="12344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78808" y="3310128"/>
            <a:ext cx="316382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ctr">
              <a:spcBef>
                <a:spcPts val="0"/>
              </a:spcBef>
            </a:pPr>
            <a:r>
              <a:rPr sz="1800" b="1" i="0">
                <a:solidFill>
                  <a:srgbClr val="FFFFFF"/>
                </a:solidFill>
                <a:latin typeface="Calibri"/>
              </a:rPr>
              <a:t>Unit Root</a:t>
            </a:r>
          </a:p>
          <a:p>
            <a:pPr algn="ctr">
              <a:spcBef>
                <a:spcPts val="0"/>
              </a:spcBef>
            </a:pPr>
            <a:r>
              <a:rPr sz="1500" b="0" i="0">
                <a:solidFill>
                  <a:srgbClr val="FFFFFF"/>
                </a:solidFill>
                <a:latin typeface="Calibri"/>
              </a:rPr>
              <a:t>ρ ≈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26680" y="3200400"/>
            <a:ext cx="3383280" cy="1234440"/>
          </a:xfrm>
          <a:prstGeom prst="rect">
            <a:avLst/>
          </a:prstGeom>
          <a:solidFill>
            <a:srgbClr val="E84E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36408" y="3310128"/>
            <a:ext cx="316382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ctr">
              <a:spcBef>
                <a:spcPts val="0"/>
              </a:spcBef>
            </a:pPr>
            <a:r>
              <a:rPr sz="1800" b="1" i="0">
                <a:solidFill>
                  <a:srgbClr val="FFFFFF"/>
                </a:solidFill>
                <a:latin typeface="Calibri"/>
              </a:rPr>
              <a:t>Explosive</a:t>
            </a:r>
          </a:p>
          <a:p>
            <a:pPr algn="ctr">
              <a:spcBef>
                <a:spcPts val="0"/>
              </a:spcBef>
            </a:pPr>
            <a:r>
              <a:rPr sz="1500" b="0" i="0">
                <a:solidFill>
                  <a:srgbClr val="FFFFFF"/>
                </a:solidFill>
                <a:latin typeface="Calibri"/>
              </a:rPr>
              <a:t>|ρ| &gt;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617720"/>
            <a:ext cx="1136599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1A1A2E"/>
                </a:solidFill>
                <a:latin typeface="Calibri"/>
              </a:rPr>
              <a:t>  •  Parametric bootstrap hypothesis tests (1,000 replications) for each country</a:t>
            </a:r>
          </a:p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1A1A2E"/>
                </a:solidFill>
                <a:latin typeface="Calibri"/>
              </a:rPr>
              <a:t>  •  Global stationarity assessed via second-order conditions (Psaradakis et al. 2004)</a:t>
            </a:r>
          </a:p>
          <a:p>
            <a:pPr algn="l">
              <a:spcBef>
                <a:spcPts val="0"/>
              </a:spcBef>
            </a:pPr>
            <a:r>
              <a:rPr sz="1400" b="0" i="1">
                <a:solidFill>
                  <a:srgbClr val="808080"/>
                </a:solidFill>
                <a:latin typeface="Calibri"/>
              </a:rPr>
              <a:t>  •  Reference: Morita, Psaradakis, Sola &amp; Yunis (2024); Hall, Psaradakis &amp; Sola (1999)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59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Stage 1 Results: Most Country-Years Are in the Unit Root Regime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510528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808080"/>
                </a:solidFill>
                <a:latin typeface="Calibri"/>
              </a:rPr>
              <a:t>8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371600"/>
            <a:ext cx="3383280" cy="1554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444752"/>
            <a:ext cx="32004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ctr">
              <a:spcBef>
                <a:spcPts val="0"/>
              </a:spcBef>
            </a:pPr>
            <a:r>
              <a:rPr sz="3800" b="1" i="0">
                <a:solidFill>
                  <a:srgbClr val="FFFFFF"/>
                </a:solidFill>
                <a:latin typeface="Calibri"/>
              </a:rPr>
              <a:t>57%</a:t>
            </a:r>
          </a:p>
          <a:p>
            <a:pPr algn="ctr">
              <a:spcBef>
                <a:spcPts val="0"/>
              </a:spcBef>
            </a:pPr>
            <a:r>
              <a:rPr sz="1800" b="0" i="0">
                <a:solidFill>
                  <a:srgbClr val="FFFFFF"/>
                </a:solidFill>
                <a:latin typeface="Calibri"/>
              </a:rPr>
              <a:t>Unit Root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1371600"/>
            <a:ext cx="3383280" cy="1554480"/>
          </a:xfrm>
          <a:prstGeom prst="rect">
            <a:avLst/>
          </a:prstGeom>
          <a:solidFill>
            <a:srgbClr val="27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34840" y="1444752"/>
            <a:ext cx="32004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ctr">
              <a:spcBef>
                <a:spcPts val="0"/>
              </a:spcBef>
            </a:pPr>
            <a:r>
              <a:rPr sz="3800" b="1" i="0">
                <a:solidFill>
                  <a:srgbClr val="FFFFFF"/>
                </a:solidFill>
                <a:latin typeface="Calibri"/>
              </a:rPr>
              <a:t>38%</a:t>
            </a:r>
          </a:p>
          <a:p>
            <a:pPr algn="ctr">
              <a:spcBef>
                <a:spcPts val="0"/>
              </a:spcBef>
            </a:pPr>
            <a:r>
              <a:rPr sz="1800" b="0" i="0">
                <a:solidFill>
                  <a:srgbClr val="FFFFFF"/>
                </a:solidFill>
                <a:latin typeface="Calibri"/>
              </a:rPr>
              <a:t>Stationary</a:t>
            </a:r>
          </a:p>
        </p:txBody>
      </p:sp>
      <p:sp>
        <p:nvSpPr>
          <p:cNvPr id="9" name="Rectangle 8"/>
          <p:cNvSpPr/>
          <p:nvPr/>
        </p:nvSpPr>
        <p:spPr>
          <a:xfrm>
            <a:off x="8275320" y="1371600"/>
            <a:ext cx="3383280" cy="1554480"/>
          </a:xfrm>
          <a:prstGeom prst="rect">
            <a:avLst/>
          </a:prstGeom>
          <a:solidFill>
            <a:srgbClr val="E84E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366760" y="1444752"/>
            <a:ext cx="32004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ctr">
              <a:spcBef>
                <a:spcPts val="0"/>
              </a:spcBef>
            </a:pPr>
            <a:r>
              <a:rPr sz="3800" b="1" i="0">
                <a:solidFill>
                  <a:srgbClr val="FFFFFF"/>
                </a:solidFill>
                <a:latin typeface="Calibri"/>
              </a:rPr>
              <a:t>5%</a:t>
            </a:r>
          </a:p>
          <a:p>
            <a:pPr algn="ctr">
              <a:spcBef>
                <a:spcPts val="0"/>
              </a:spcBef>
            </a:pPr>
            <a:r>
              <a:rPr sz="1800" b="0" i="0">
                <a:solidFill>
                  <a:srgbClr val="FFFFFF"/>
                </a:solidFill>
                <a:latin typeface="Calibri"/>
              </a:rPr>
              <a:t>Explosive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154680"/>
            <a:ext cx="11365992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900">
                <a:solidFill>
                  <a:srgbClr val="1A1A2E"/>
                </a:solidFill>
                <a:latin typeface="Calibri"/>
              </a:rPr>
              <a:t>  •  Unit root regime is the modal state: CA dynamics are highly persistent but not diverging</a:t>
            </a:r>
          </a:p>
          <a:p>
            <a:pPr algn="l">
              <a:spcBef>
                <a:spcPts val="400"/>
              </a:spcBef>
            </a:pPr>
            <a:r>
              <a:rPr sz="1900">
                <a:solidFill>
                  <a:srgbClr val="1A1A2E"/>
                </a:solidFill>
                <a:latin typeface="Calibri"/>
              </a:rPr>
              <a:t>  •  Explosive episodes are episodic, not chronic — consistent with temporary adjustment crises</a:t>
            </a:r>
          </a:p>
          <a:p>
            <a:pPr algn="l">
              <a:spcBef>
                <a:spcPts val="200"/>
              </a:spcBef>
            </a:pPr>
            <a:r>
              <a:rPr sz="1700">
                <a:solidFill>
                  <a:srgbClr val="808080"/>
                </a:solidFill>
                <a:latin typeface="Calibri"/>
              </a:rPr>
              <a:t>  –  Concentrated around the GFC (2008–09), COVID (2020–21), and EM stress periods</a:t>
            </a:r>
          </a:p>
          <a:p>
            <a:pPr algn="l">
              <a:spcBef>
                <a:spcPts val="400"/>
              </a:spcBef>
            </a:pPr>
            <a:r>
              <a:rPr sz="1900">
                <a:solidFill>
                  <a:srgbClr val="1A1A2E"/>
                </a:solidFill>
                <a:latin typeface="Calibri"/>
              </a:rPr>
              <a:t>  •  Stationary behavior is substantial (~38%) — many country-years do exhibit mean reversion</a:t>
            </a:r>
          </a:p>
          <a:p>
            <a:pPr algn="l">
              <a:spcBef>
                <a:spcPts val="400"/>
              </a:spcBef>
            </a:pPr>
            <a:r>
              <a:rPr sz="1900">
                <a:solidFill>
                  <a:srgbClr val="1A1A2E"/>
                </a:solidFill>
                <a:latin typeface="Calibri"/>
              </a:rPr>
              <a:t>  •  →  Significant cross-country and time variation to explain in Stage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00800"/>
            <a:ext cx="11365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0"/>
              </a:spcBef>
            </a:pPr>
            <a:r>
              <a:rPr sz="1200" b="0" i="1">
                <a:solidFill>
                  <a:srgbClr val="808080"/>
                </a:solidFill>
                <a:latin typeface="Calibri"/>
              </a:rPr>
              <a:t>Figure 5 in paper | Quarterly observations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59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Regime Dynamics Differ Systematically Across Country 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510528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808080"/>
                </a:solidFill>
                <a:latin typeface="Calibri"/>
              </a:rPr>
              <a:t>9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0"/>
              </a:spcBef>
            </a:pPr>
            <a:r>
              <a:rPr sz="1600" b="1" i="0">
                <a:solidFill>
                  <a:srgbClr val="1F3864"/>
                </a:solidFill>
                <a:latin typeface="Calibri"/>
              </a:rPr>
              <a:t>Income Groups</a:t>
            </a:r>
          </a:p>
        </p:txBody>
      </p:sp>
      <p:sp>
        <p:nvSpPr>
          <p:cNvPr id="6" name="Rectangle 5"/>
          <p:cNvSpPr/>
          <p:nvPr/>
        </p:nvSpPr>
        <p:spPr>
          <a:xfrm>
            <a:off x="405322" y="2232351"/>
            <a:ext cx="5303520" cy="731520"/>
          </a:xfrm>
          <a:prstGeom prst="rect">
            <a:avLst/>
          </a:prstGeom>
          <a:solidFill>
            <a:srgbClr val="E8ED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96762" y="2184065"/>
            <a:ext cx="512064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l">
              <a:spcBef>
                <a:spcPts val="0"/>
              </a:spcBef>
            </a:pPr>
            <a:r>
              <a:rPr sz="1400" b="1" i="0" dirty="0">
                <a:solidFill>
                  <a:srgbClr val="1F3864"/>
                </a:solidFill>
                <a:latin typeface="Calibri"/>
              </a:rPr>
              <a:t>Advanced economies</a:t>
            </a:r>
          </a:p>
          <a:p>
            <a:pPr algn="l">
              <a:spcBef>
                <a:spcPts val="0"/>
              </a:spcBef>
            </a:pPr>
            <a:r>
              <a:rPr sz="1300" b="0" i="0" dirty="0">
                <a:solidFill>
                  <a:srgbClr val="1A1A2E"/>
                </a:solidFill>
                <a:latin typeface="Calibri"/>
              </a:rPr>
              <a:t>54% Unit</a:t>
            </a:r>
            <a:r>
              <a:rPr lang="en-US" sz="1300" b="0" i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R</a:t>
            </a:r>
            <a:r>
              <a:rPr lang="en-US" sz="1300" b="0" i="0" dirty="0">
                <a:solidFill>
                  <a:srgbClr val="1A1A2E"/>
                </a:solidFill>
                <a:latin typeface="Calibri"/>
              </a:rPr>
              <a:t>oot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 |  45% Stat</a:t>
            </a:r>
            <a:r>
              <a:rPr lang="en-US" sz="1300" b="0" i="0" dirty="0">
                <a:solidFill>
                  <a:srgbClr val="1A1A2E"/>
                </a:solidFill>
                <a:latin typeface="Calibri"/>
              </a:rPr>
              <a:t>ionary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 |   1% Expl</a:t>
            </a:r>
            <a:r>
              <a:rPr lang="en-US" sz="1300" b="0" i="0" dirty="0">
                <a:solidFill>
                  <a:srgbClr val="1A1A2E"/>
                </a:solidFill>
                <a:latin typeface="Calibri"/>
              </a:rPr>
              <a:t>osive</a:t>
            </a:r>
            <a:endParaRPr sz="1300" b="0" i="0" dirty="0">
              <a:solidFill>
                <a:srgbClr val="1A1A2E"/>
              </a:solidFill>
              <a:latin typeface="Calibr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11480" y="2992326"/>
            <a:ext cx="530352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2884092"/>
            <a:ext cx="512064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l">
              <a:spcBef>
                <a:spcPts val="0"/>
              </a:spcBef>
            </a:pPr>
            <a:r>
              <a:rPr sz="1400" b="1" i="0" dirty="0">
                <a:solidFill>
                  <a:srgbClr val="1F3864"/>
                </a:solidFill>
                <a:latin typeface="Calibri"/>
              </a:rPr>
              <a:t>Emerging markets</a:t>
            </a:r>
          </a:p>
          <a:p>
            <a:pPr algn="l">
              <a:spcBef>
                <a:spcPts val="0"/>
              </a:spcBef>
            </a:pPr>
            <a:r>
              <a:rPr sz="1300" b="0" i="0" dirty="0">
                <a:solidFill>
                  <a:srgbClr val="1A1A2E"/>
                </a:solidFill>
                <a:latin typeface="Calibri"/>
              </a:rPr>
              <a:t>56% Unit</a:t>
            </a:r>
            <a:r>
              <a:rPr lang="en-US" sz="1300" b="0" i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R</a:t>
            </a:r>
            <a:r>
              <a:rPr lang="en-US" sz="1300" b="0" i="0" dirty="0">
                <a:solidFill>
                  <a:srgbClr val="1A1A2E"/>
                </a:solidFill>
                <a:latin typeface="Calibri"/>
              </a:rPr>
              <a:t>oot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 |  32% Stat</a:t>
            </a:r>
            <a:r>
              <a:rPr lang="en-US" sz="1300" b="0" i="0" dirty="0">
                <a:solidFill>
                  <a:srgbClr val="1A1A2E"/>
                </a:solidFill>
                <a:latin typeface="Calibri"/>
              </a:rPr>
              <a:t>ionary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 |  12% Expl</a:t>
            </a:r>
            <a:r>
              <a:rPr lang="en-US" sz="1300" b="0" i="0" dirty="0">
                <a:solidFill>
                  <a:srgbClr val="1A1A2E"/>
                </a:solidFill>
                <a:latin typeface="Calibri"/>
              </a:rPr>
              <a:t>osive</a:t>
            </a:r>
            <a:endParaRPr sz="1300" b="0" i="0" dirty="0">
              <a:solidFill>
                <a:srgbClr val="1A1A2E"/>
              </a:solidFill>
              <a:latin typeface="Calibri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14279" y="3703320"/>
            <a:ext cx="5303520" cy="731520"/>
          </a:xfrm>
          <a:prstGeom prst="rect">
            <a:avLst/>
          </a:prstGeom>
          <a:solidFill>
            <a:srgbClr val="E8ED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6762" y="3667057"/>
            <a:ext cx="512064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l">
              <a:spcBef>
                <a:spcPts val="0"/>
              </a:spcBef>
            </a:pPr>
            <a:r>
              <a:rPr sz="1400" b="1" i="0" dirty="0">
                <a:solidFill>
                  <a:srgbClr val="1F3864"/>
                </a:solidFill>
                <a:latin typeface="Calibri"/>
              </a:rPr>
              <a:t>Less-developed</a:t>
            </a:r>
          </a:p>
          <a:p>
            <a:pPr algn="l">
              <a:spcBef>
                <a:spcPts val="0"/>
              </a:spcBef>
            </a:pPr>
            <a:r>
              <a:rPr sz="1300" b="0" i="0" dirty="0">
                <a:solidFill>
                  <a:srgbClr val="1A1A2E"/>
                </a:solidFill>
                <a:latin typeface="Calibri"/>
              </a:rPr>
              <a:t>Similar</a:t>
            </a:r>
            <a:r>
              <a:rPr lang="en-US" sz="1300" b="0" i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to emerging; elevated explosive share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97880" y="1280160"/>
            <a:ext cx="27432" cy="507492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80760" y="12801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0"/>
              </a:spcBef>
            </a:pPr>
            <a:r>
              <a:rPr sz="1600" b="1" i="0">
                <a:solidFill>
                  <a:srgbClr val="1F3864"/>
                </a:solidFill>
                <a:latin typeface="Calibri"/>
              </a:rPr>
              <a:t>Time Evolution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737360"/>
            <a:ext cx="530352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1A1A2E"/>
                </a:solidFill>
                <a:latin typeface="Calibri"/>
              </a:rPr>
              <a:t>  •  Explosive episodes cluster around identifiable crises</a:t>
            </a:r>
          </a:p>
          <a:p>
            <a:pPr algn="l">
              <a:spcBef>
                <a:spcPts val="0"/>
              </a:spcBef>
            </a:pPr>
            <a:r>
              <a:rPr sz="1400" b="0" i="0">
                <a:solidFill>
                  <a:srgbClr val="808080"/>
                </a:solidFill>
                <a:latin typeface="Calibri"/>
              </a:rPr>
              <a:t>       GFC (2008–09)  |  Euro crisis (2010–12)  |  COVID (2020–21)</a:t>
            </a:r>
          </a:p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1A1A2E"/>
                </a:solidFill>
                <a:latin typeface="Calibri"/>
              </a:rPr>
              <a:t>  •  Unit root share rises steadily post-GFC</a:t>
            </a:r>
          </a:p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1A1A2E"/>
                </a:solidFill>
                <a:latin typeface="Calibri"/>
              </a:rPr>
              <a:t>  •  Regional patterns:</a:t>
            </a:r>
          </a:p>
          <a:p>
            <a:pPr algn="l">
              <a:spcBef>
                <a:spcPts val="0"/>
              </a:spcBef>
            </a:pPr>
            <a:r>
              <a:rPr sz="1400" b="0" i="0">
                <a:solidFill>
                  <a:srgbClr val="808080"/>
                </a:solidFill>
                <a:latin typeface="Calibri"/>
              </a:rPr>
              <a:t>       Latin America: highest unit root share (62%)</a:t>
            </a:r>
          </a:p>
          <a:p>
            <a:pPr algn="l">
              <a:spcBef>
                <a:spcPts val="0"/>
              </a:spcBef>
            </a:pPr>
            <a:r>
              <a:rPr sz="1400" b="0" i="0">
                <a:solidFill>
                  <a:srgbClr val="808080"/>
                </a:solidFill>
                <a:latin typeface="Calibri"/>
              </a:rPr>
              <a:t>       East Asia: comparatively stable, lower explosive frequency</a:t>
            </a:r>
          </a:p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1A1A2E"/>
                </a:solidFill>
                <a:latin typeface="Calibri"/>
              </a:rPr>
              <a:t>  •  Advanced economies almost never enter explosive regime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400800"/>
            <a:ext cx="11365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0"/>
              </a:spcBef>
            </a:pPr>
            <a:r>
              <a:rPr sz="1200" b="0" i="1">
                <a:solidFill>
                  <a:srgbClr val="808080"/>
                </a:solidFill>
                <a:latin typeface="Calibri"/>
              </a:rPr>
              <a:t>Figures 6–7 in paper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59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Stage 2: Multinomial Logit (MNL)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510528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808080"/>
                </a:solidFill>
                <a:latin typeface="Calibri"/>
              </a:rPr>
              <a:t>10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280160"/>
            <a:ext cx="11365992" cy="658368"/>
          </a:xfrm>
          <a:prstGeom prst="rect">
            <a:avLst/>
          </a:prstGeom>
          <a:solidFill>
            <a:srgbClr val="E0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0"/>
              </a:spcBef>
            </a:pPr>
            <a:r>
              <a:rPr sz="1600" b="1" i="0">
                <a:solidFill>
                  <a:srgbClr val="1F3864"/>
                </a:solidFill>
                <a:latin typeface="Calibri"/>
              </a:rPr>
              <a:t>Outcome: regime classification from Stage 1  →  Explosive (reference)  |  Stationary  |  Unit root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03120"/>
            <a:ext cx="113659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1F3864"/>
                </a:solidFill>
                <a:latin typeface="Calibri"/>
              </a:rPr>
              <a:t>Six structural regressors: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468880"/>
            <a:ext cx="11365992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2363817"/>
            <a:ext cx="111831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l">
              <a:spcBef>
                <a:spcPts val="0"/>
              </a:spcBef>
            </a:pPr>
            <a:r>
              <a:rPr sz="1400" b="0" i="0" dirty="0">
                <a:solidFill>
                  <a:srgbClr val="1A1A2E"/>
                </a:solidFill>
                <a:latin typeface="Calibri"/>
              </a:rPr>
              <a:t>Fixed exchange rate (dummy):  1 if fixed/pegged arrangement in year t  (</a:t>
            </a:r>
            <a:r>
              <a:rPr sz="1400" b="0" i="0" dirty="0" err="1">
                <a:solidFill>
                  <a:srgbClr val="1A1A2E"/>
                </a:solidFill>
                <a:latin typeface="Calibri"/>
              </a:rPr>
              <a:t>Ilzetzki</a:t>
            </a:r>
            <a:r>
              <a:rPr sz="1400" b="0" i="0" dirty="0">
                <a:solidFill>
                  <a:srgbClr val="1A1A2E"/>
                </a:solidFill>
                <a:latin typeface="Calibri"/>
              </a:rPr>
              <a:t>, Reinhart &amp; Rogoff)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944368"/>
            <a:ext cx="1136599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2871216"/>
            <a:ext cx="111831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l">
              <a:spcBef>
                <a:spcPts val="0"/>
              </a:spcBef>
            </a:pPr>
            <a:r>
              <a:rPr sz="1400" b="0" i="0" dirty="0">
                <a:solidFill>
                  <a:srgbClr val="1A1A2E"/>
                </a:solidFill>
                <a:latin typeface="Calibri"/>
              </a:rPr>
              <a:t>Current account deficit (dummy):  1 if country ran a CA deficit in year 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419856"/>
            <a:ext cx="11365992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3305276"/>
            <a:ext cx="111831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l">
              <a:spcBef>
                <a:spcPts val="0"/>
              </a:spcBef>
            </a:pPr>
            <a:r>
              <a:rPr sz="1400" b="0" i="0" dirty="0">
                <a:solidFill>
                  <a:srgbClr val="1A1A2E"/>
                </a:solidFill>
                <a:latin typeface="Calibri"/>
              </a:rPr>
              <a:t>Commodity exporter (dummy):  1 if primary commodity exporter (terms-of-trade volatility exposure)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895344"/>
            <a:ext cx="1136599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3771060"/>
            <a:ext cx="111831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l">
              <a:spcBef>
                <a:spcPts val="0"/>
              </a:spcBef>
            </a:pPr>
            <a:r>
              <a:rPr sz="1400" b="0" i="0" dirty="0">
                <a:solidFill>
                  <a:srgbClr val="1A1A2E"/>
                </a:solidFill>
                <a:latin typeface="Calibri"/>
              </a:rPr>
              <a:t>Manufacturing exporter (dummy):  1 if manufactured goods are the primary export category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370832"/>
            <a:ext cx="11365992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856" y="4240949"/>
            <a:ext cx="111831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l">
              <a:spcBef>
                <a:spcPts val="0"/>
              </a:spcBef>
            </a:pPr>
            <a:r>
              <a:rPr sz="1400" b="0" i="0" dirty="0">
                <a:solidFill>
                  <a:srgbClr val="1A1A2E"/>
                </a:solidFill>
                <a:latin typeface="Calibri"/>
              </a:rPr>
              <a:t>Trade openness (lagged, t−1):  Total trade / GDP, lagged one period to reduce simultaneity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846320"/>
            <a:ext cx="1136599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" y="4716904"/>
            <a:ext cx="111831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l">
              <a:spcBef>
                <a:spcPts val="0"/>
              </a:spcBef>
            </a:pPr>
            <a:r>
              <a:rPr sz="1400" b="0" i="0" dirty="0">
                <a:solidFill>
                  <a:srgbClr val="1A1A2E"/>
                </a:solidFill>
                <a:latin typeface="Calibri"/>
              </a:rPr>
              <a:t>Fiscal balance (3-yr avg, lagged):  General gov’t balance / GDP, 3-yr moving avg, lagged one period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5367528"/>
            <a:ext cx="11365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0"/>
              </a:spcBef>
            </a:pPr>
            <a:r>
              <a:rPr sz="1300" b="0" i="1">
                <a:solidFill>
                  <a:srgbClr val="808080"/>
                </a:solidFill>
                <a:latin typeface="Calibri"/>
              </a:rPr>
              <a:t>74 countries · 2,451 observations · cluster-robust SEs (country level) · reference category: Explosive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59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Baseline Results: Fixed ER and Manufacturing Exports Are Key Predictors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510528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808080"/>
                </a:solidFill>
                <a:latin typeface="Calibri"/>
              </a:rPr>
              <a:t>11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11365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1F3864"/>
                </a:solidFill>
                <a:latin typeface="Calibri"/>
              </a:rPr>
              <a:t>MNL coefficients (explosive = reference) — Table 4 in paper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353" y="1887513"/>
            <a:ext cx="11365992" cy="34747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793" y="1895455"/>
            <a:ext cx="11183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FFFFFF"/>
                </a:solidFill>
                <a:latin typeface="Calibri"/>
              </a:rPr>
              <a:t>Regressor                             Stationary vs Explosive  Unit Root vs Explosive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309910"/>
            <a:ext cx="11365992" cy="47548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2316977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1A1A2E"/>
                </a:solidFill>
                <a:latin typeface="Calibri"/>
              </a:rPr>
              <a:t>Fixed exchange rate                      +  *** (large)            +  *** (large)     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353" y="2785398"/>
            <a:ext cx="11365992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2790692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1A1A2E"/>
                </a:solidFill>
                <a:latin typeface="Calibri"/>
              </a:rPr>
              <a:t>Manufacturing exporter                       +  ***                    +  **          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214862"/>
            <a:ext cx="11365992" cy="47548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856" y="3316519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1A1A2E"/>
                </a:solidFill>
                <a:latin typeface="Calibri"/>
              </a:rPr>
              <a:t>Trade openness (t−1)                         −  **                      −  *          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16" y="3716010"/>
            <a:ext cx="11365992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856" y="371601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1A1A2E"/>
                </a:solidFill>
                <a:latin typeface="Calibri"/>
              </a:rPr>
              <a:t>Current account deficit                       </a:t>
            </a:r>
            <a:r>
              <a:rPr sz="1400" dirty="0" err="1">
                <a:solidFill>
                  <a:srgbClr val="1A1A2E"/>
                </a:solidFill>
                <a:latin typeface="Calibri"/>
              </a:rPr>
              <a:t>n.s</a:t>
            </a:r>
            <a:r>
              <a:rPr sz="1400" dirty="0">
                <a:solidFill>
                  <a:srgbClr val="1A1A2E"/>
                </a:solidFill>
                <a:latin typeface="Calibri"/>
              </a:rPr>
              <a:t>.                      </a:t>
            </a:r>
            <a:r>
              <a:rPr sz="1400" dirty="0" err="1">
                <a:solidFill>
                  <a:srgbClr val="1A1A2E"/>
                </a:solidFill>
                <a:latin typeface="Calibri"/>
              </a:rPr>
              <a:t>n.s</a:t>
            </a:r>
            <a:r>
              <a:rPr sz="1400" dirty="0">
                <a:solidFill>
                  <a:srgbClr val="1A1A2E"/>
                </a:solidFill>
                <a:latin typeface="Calibri"/>
              </a:rPr>
              <a:t>.          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16" y="4165092"/>
            <a:ext cx="11365992" cy="47548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1480" y="4236098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1A1A2E"/>
                </a:solidFill>
                <a:latin typeface="Calibri"/>
              </a:rPr>
              <a:t>Commodity exporter                            </a:t>
            </a:r>
            <a:r>
              <a:rPr sz="1400" dirty="0" err="1">
                <a:solidFill>
                  <a:srgbClr val="1A1A2E"/>
                </a:solidFill>
                <a:latin typeface="Calibri"/>
              </a:rPr>
              <a:t>n.s</a:t>
            </a:r>
            <a:r>
              <a:rPr sz="1400" dirty="0">
                <a:solidFill>
                  <a:srgbClr val="1A1A2E"/>
                </a:solidFill>
                <a:latin typeface="Calibri"/>
              </a:rPr>
              <a:t>.                      </a:t>
            </a:r>
            <a:r>
              <a:rPr sz="1400" dirty="0" err="1">
                <a:solidFill>
                  <a:srgbClr val="1A1A2E"/>
                </a:solidFill>
                <a:latin typeface="Calibri"/>
              </a:rPr>
              <a:t>n.s</a:t>
            </a:r>
            <a:r>
              <a:rPr sz="1400" dirty="0">
                <a:solidFill>
                  <a:srgbClr val="1A1A2E"/>
                </a:solidFill>
                <a:latin typeface="Calibri"/>
              </a:rPr>
              <a:t>.         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659614"/>
            <a:ext cx="11365992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856" y="4665866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1A1A2E"/>
                </a:solidFill>
                <a:latin typeface="Calibri"/>
              </a:rPr>
              <a:t>Fiscal balance (t−1)                          </a:t>
            </a:r>
            <a:r>
              <a:rPr sz="1400" dirty="0" err="1">
                <a:solidFill>
                  <a:srgbClr val="1A1A2E"/>
                </a:solidFill>
                <a:latin typeface="Calibri"/>
              </a:rPr>
              <a:t>n.s</a:t>
            </a:r>
            <a:r>
              <a:rPr sz="1400" dirty="0">
                <a:solidFill>
                  <a:srgbClr val="1A1A2E"/>
                </a:solidFill>
                <a:latin typeface="Calibri"/>
              </a:rPr>
              <a:t>.                      </a:t>
            </a:r>
            <a:r>
              <a:rPr sz="1400" dirty="0" err="1">
                <a:solidFill>
                  <a:srgbClr val="1A1A2E"/>
                </a:solidFill>
                <a:latin typeface="Calibri"/>
              </a:rPr>
              <a:t>n.s</a:t>
            </a:r>
            <a:r>
              <a:rPr sz="1400" dirty="0">
                <a:solidFill>
                  <a:srgbClr val="1A1A2E"/>
                </a:solidFill>
                <a:latin typeface="Calibri"/>
              </a:rPr>
              <a:t>.         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6400800"/>
            <a:ext cx="11365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0"/>
              </a:spcBef>
            </a:pPr>
            <a:r>
              <a:rPr sz="1200" b="0" i="1">
                <a:solidFill>
                  <a:srgbClr val="808080"/>
                </a:solidFill>
                <a:latin typeface="Calibri"/>
              </a:rPr>
              <a:t>*p&lt;0.10  **p&lt;0.05  ***p&lt;0.01  ·  cluster-robust SEs  ·  n.s. = not significant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59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Average Marginal Effects: Fixed ER Reduces Explosive Probability by ~9 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510528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808080"/>
                </a:solidFill>
                <a:latin typeface="Calibri"/>
              </a:rPr>
              <a:t>12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371600"/>
            <a:ext cx="3520440" cy="13258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21208" y="1444752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ctr">
              <a:spcBef>
                <a:spcPts val="0"/>
              </a:spcBef>
            </a:pPr>
            <a:r>
              <a:rPr sz="2800" b="1" i="0">
                <a:solidFill>
                  <a:srgbClr val="FFFFFF"/>
                </a:solidFill>
                <a:latin typeface="Calibri"/>
              </a:rPr>
              <a:t>−9.1 pp</a:t>
            </a:r>
          </a:p>
          <a:p>
            <a:pPr algn="ctr">
              <a:spcBef>
                <a:spcPts val="0"/>
              </a:spcBef>
            </a:pPr>
            <a:r>
              <a:rPr sz="1400" b="0" i="0">
                <a:solidFill>
                  <a:srgbClr val="FFFFFF"/>
                </a:solidFill>
                <a:latin typeface="Calibri"/>
              </a:rPr>
              <a:t>Fixed ER → Explosive prob.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26280" y="1371600"/>
            <a:ext cx="3520440" cy="1325880"/>
          </a:xfrm>
          <a:prstGeom prst="rect">
            <a:avLst/>
          </a:prstGeom>
          <a:solidFill>
            <a:srgbClr val="27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36008" y="1444752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ctr">
              <a:spcBef>
                <a:spcPts val="0"/>
              </a:spcBef>
            </a:pPr>
            <a:r>
              <a:rPr sz="2800" b="1" i="0">
                <a:solidFill>
                  <a:srgbClr val="FFFFFF"/>
                </a:solidFill>
                <a:latin typeface="Calibri"/>
              </a:rPr>
              <a:t>+5.9 pp</a:t>
            </a:r>
          </a:p>
          <a:p>
            <a:pPr algn="ctr">
              <a:spcBef>
                <a:spcPts val="0"/>
              </a:spcBef>
            </a:pPr>
            <a:r>
              <a:rPr sz="1400" b="0" i="0">
                <a:solidFill>
                  <a:srgbClr val="FFFFFF"/>
                </a:solidFill>
                <a:latin typeface="Calibri"/>
              </a:rPr>
              <a:t>Fixed ER → Stationary prob.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1371600"/>
            <a:ext cx="3520440" cy="1325880"/>
          </a:xfrm>
          <a:prstGeom prst="rect">
            <a:avLst/>
          </a:prstGeom>
          <a:solidFill>
            <a:srgbClr val="2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750808" y="1444752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ctr">
              <a:spcBef>
                <a:spcPts val="0"/>
              </a:spcBef>
            </a:pPr>
            <a:r>
              <a:rPr sz="2800" b="1" i="0">
                <a:solidFill>
                  <a:srgbClr val="FFFFFF"/>
                </a:solidFill>
                <a:latin typeface="Calibri"/>
              </a:rPr>
              <a:t>+3.2 pp</a:t>
            </a:r>
          </a:p>
          <a:p>
            <a:pPr algn="ctr">
              <a:spcBef>
                <a:spcPts val="0"/>
              </a:spcBef>
            </a:pPr>
            <a:r>
              <a:rPr sz="1400" b="0" i="0">
                <a:solidFill>
                  <a:srgbClr val="FFFFFF"/>
                </a:solidFill>
                <a:latin typeface="Calibri"/>
              </a:rPr>
              <a:t>Fixed ER → Unit root prob.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880360"/>
            <a:ext cx="11365992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900">
                <a:solidFill>
                  <a:srgbClr val="1A1A2E"/>
                </a:solidFill>
                <a:latin typeface="Calibri"/>
              </a:rPr>
              <a:t>  •  Fixed exchange rate is the dominant predictor — reduces explosive probability by ~9 percentage points</a:t>
            </a:r>
          </a:p>
          <a:p>
            <a:pPr algn="l">
              <a:spcBef>
                <a:spcPts val="200"/>
              </a:spcBef>
            </a:pPr>
            <a:r>
              <a:rPr sz="1700">
                <a:solidFill>
                  <a:srgbClr val="808080"/>
                </a:solidFill>
                <a:latin typeface="Calibri"/>
              </a:rPr>
              <a:t>  –  Consistent with the disciplining role of exchange rate pegs: defending the peg forces external adjustment</a:t>
            </a:r>
          </a:p>
          <a:p>
            <a:pPr algn="l">
              <a:spcBef>
                <a:spcPts val="400"/>
              </a:spcBef>
            </a:pPr>
            <a:r>
              <a:rPr sz="1900">
                <a:solidFill>
                  <a:srgbClr val="1A1A2E"/>
                </a:solidFill>
                <a:latin typeface="Calibri"/>
              </a:rPr>
              <a:t>  •  Manufacturing exporter: significant negative effect on explosive probability</a:t>
            </a:r>
          </a:p>
          <a:p>
            <a:pPr algn="l">
              <a:spcBef>
                <a:spcPts val="400"/>
              </a:spcBef>
            </a:pPr>
            <a:r>
              <a:rPr sz="1900">
                <a:solidFill>
                  <a:srgbClr val="1A1A2E"/>
                </a:solidFill>
                <a:latin typeface="Calibri"/>
              </a:rPr>
              <a:t>  •  No other covariate generates a statistically significant marginal effect on any regime</a:t>
            </a:r>
          </a:p>
          <a:p>
            <a:pPr algn="l">
              <a:spcBef>
                <a:spcPts val="400"/>
              </a:spcBef>
            </a:pPr>
            <a:r>
              <a:rPr sz="1900">
                <a:solidFill>
                  <a:srgbClr val="1A1A2E"/>
                </a:solidFill>
                <a:latin typeface="Calibri"/>
              </a:rPr>
              <a:t>  •  →  KEY ASYMMETRY: Structural variables explain explosive vs. non-explosive propensity,</a:t>
            </a:r>
          </a:p>
          <a:p>
            <a:pPr algn="l">
              <a:spcBef>
                <a:spcPts val="200"/>
              </a:spcBef>
            </a:pPr>
            <a:r>
              <a:rPr sz="1700">
                <a:solidFill>
                  <a:srgbClr val="808080"/>
                </a:solidFill>
                <a:latin typeface="Calibri"/>
              </a:rPr>
              <a:t>  –  but do NOT distinguish stationary from unit root behavior within the stable regime space</a:t>
            </a:r>
          </a:p>
          <a:p>
            <a:pPr algn="l">
              <a:spcBef>
                <a:spcPts val="200"/>
              </a:spcBef>
            </a:pPr>
            <a:r>
              <a:rPr sz="1700">
                <a:solidFill>
                  <a:srgbClr val="808080"/>
                </a:solidFill>
                <a:latin typeface="Calibri"/>
              </a:rPr>
              <a:t>  –  Binary logit (stationary vs. unit root only): all 6 regressors insignificant (p &gt; 0.25)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00800"/>
            <a:ext cx="11365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0"/>
              </a:spcBef>
            </a:pPr>
            <a:r>
              <a:rPr sz="1200" b="0" i="1">
                <a:solidFill>
                  <a:srgbClr val="808080"/>
                </a:solidFill>
                <a:latin typeface="Calibri"/>
              </a:rPr>
              <a:t>Table 5 (AMEs) in paper · statistical significance based on cluster-robust SEs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59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Robustness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510528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808080"/>
                </a:solidFill>
                <a:latin typeface="Calibri"/>
              </a:rPr>
              <a:t>13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11365992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900">
                <a:solidFill>
                  <a:srgbClr val="1A1A2E"/>
                </a:solidFill>
                <a:latin typeface="Calibri"/>
              </a:rPr>
              <a:t>  •  Lagged exchange rate regime (endogeneity concern)</a:t>
            </a:r>
          </a:p>
          <a:p>
            <a:pPr algn="l">
              <a:spcBef>
                <a:spcPts val="200"/>
              </a:spcBef>
            </a:pPr>
            <a:r>
              <a:rPr sz="1700">
                <a:solidFill>
                  <a:srgbClr val="808080"/>
                </a:solidFill>
                <a:latin typeface="Calibri"/>
              </a:rPr>
              <a:t>  –  Re-estimate with fixed_er lagged one period → results unchanged</a:t>
            </a:r>
          </a:p>
          <a:p>
            <a:pPr algn="l">
              <a:spcBef>
                <a:spcPts val="200"/>
              </a:spcBef>
            </a:pPr>
            <a:r>
              <a:rPr sz="1700">
                <a:solidFill>
                  <a:srgbClr val="808080"/>
                </a:solidFill>
                <a:latin typeface="Calibri"/>
              </a:rPr>
              <a:t>  –  Addresses concern that ER regime is simultaneously determined with CA dynamics</a:t>
            </a:r>
          </a:p>
          <a:p>
            <a:pPr algn="l">
              <a:spcBef>
                <a:spcPts val="400"/>
              </a:spcBef>
            </a:pPr>
            <a:r>
              <a:rPr sz="1900">
                <a:solidFill>
                  <a:srgbClr val="1A1A2E"/>
                </a:solidFill>
                <a:latin typeface="Calibri"/>
              </a:rPr>
              <a:t>  •  Year fixed effects and global crisis dummies</a:t>
            </a:r>
          </a:p>
          <a:p>
            <a:pPr algn="l">
              <a:spcBef>
                <a:spcPts val="200"/>
              </a:spcBef>
            </a:pPr>
            <a:r>
              <a:rPr sz="1700">
                <a:solidFill>
                  <a:srgbClr val="808080"/>
                </a:solidFill>
                <a:latin typeface="Calibri"/>
              </a:rPr>
              <a:t>  –  Models with annual time dummies: consistently higher BIC — global shocks do not dominate</a:t>
            </a:r>
          </a:p>
          <a:p>
            <a:pPr algn="l">
              <a:spcBef>
                <a:spcPts val="200"/>
              </a:spcBef>
            </a:pPr>
            <a:r>
              <a:rPr sz="1700">
                <a:solidFill>
                  <a:srgbClr val="808080"/>
                </a:solidFill>
                <a:latin typeface="Calibri"/>
              </a:rPr>
              <a:t>  –  Explicit GFC (2008–09) and COVID (2020–21) dummies: do not improve fit</a:t>
            </a:r>
          </a:p>
          <a:p>
            <a:pPr algn="l">
              <a:spcBef>
                <a:spcPts val="400"/>
              </a:spcBef>
            </a:pPr>
            <a:r>
              <a:rPr sz="1900">
                <a:solidFill>
                  <a:srgbClr val="1A1A2E"/>
                </a:solidFill>
                <a:latin typeface="Calibri"/>
              </a:rPr>
              <a:t>  •  Oil exporters</a:t>
            </a:r>
          </a:p>
          <a:p>
            <a:pPr algn="l">
              <a:spcBef>
                <a:spcPts val="200"/>
              </a:spcBef>
            </a:pPr>
            <a:r>
              <a:rPr sz="1700">
                <a:solidFill>
                  <a:srgbClr val="808080"/>
                </a:solidFill>
                <a:latin typeface="Calibri"/>
              </a:rPr>
              <a:t>  –  Narrow oil exporter dummy covers only 40 observations — too few for full MNL</a:t>
            </a:r>
          </a:p>
          <a:p>
            <a:pPr algn="l">
              <a:spcBef>
                <a:spcPts val="200"/>
              </a:spcBef>
            </a:pPr>
            <a:r>
              <a:rPr sz="1700">
                <a:solidFill>
                  <a:srgbClr val="808080"/>
                </a:solidFill>
                <a:latin typeface="Calibri"/>
              </a:rPr>
              <a:t>  –  Regime distribution is distinctive: 33% explosive, 68% stationary, 0% unit root</a:t>
            </a:r>
          </a:p>
          <a:p>
            <a:pPr algn="l">
              <a:spcBef>
                <a:spcPts val="400"/>
              </a:spcBef>
            </a:pPr>
            <a:r>
              <a:rPr sz="1900">
                <a:solidFill>
                  <a:srgbClr val="1A1A2E"/>
                </a:solidFill>
                <a:latin typeface="Calibri"/>
              </a:rPr>
              <a:t>  •  Cross-validation (country-grouped 5-fold)</a:t>
            </a:r>
          </a:p>
          <a:p>
            <a:pPr algn="l">
              <a:spcBef>
                <a:spcPts val="200"/>
              </a:spcBef>
            </a:pPr>
            <a:r>
              <a:rPr sz="1700">
                <a:solidFill>
                  <a:srgbClr val="808080"/>
                </a:solidFill>
                <a:latin typeface="Calibri"/>
              </a:rPr>
              <a:t>  –  Countries (not rows) assigned to folds — prevents data leakage across country time series</a:t>
            </a:r>
          </a:p>
          <a:p>
            <a:pPr algn="l">
              <a:spcBef>
                <a:spcPts val="200"/>
              </a:spcBef>
            </a:pPr>
            <a:r>
              <a:rPr sz="1700">
                <a:solidFill>
                  <a:srgbClr val="808080"/>
                </a:solidFill>
                <a:latin typeface="Calibri"/>
              </a:rPr>
              <a:t>  –  Baseline model achieves solid out-of-sample log-loss; lagged ER performs similarly</a:t>
            </a:r>
          </a:p>
          <a:p>
            <a:pPr algn="l">
              <a:spcBef>
                <a:spcPts val="400"/>
              </a:spcBef>
            </a:pPr>
            <a:r>
              <a:rPr sz="1900">
                <a:solidFill>
                  <a:srgbClr val="1A1A2E"/>
                </a:solidFill>
                <a:latin typeface="Calibri"/>
              </a:rPr>
              <a:t>  •  Binary logit (stationary vs. unit root)</a:t>
            </a:r>
          </a:p>
          <a:p>
            <a:pPr algn="l">
              <a:spcBef>
                <a:spcPts val="200"/>
              </a:spcBef>
            </a:pPr>
            <a:r>
              <a:rPr sz="1700">
                <a:solidFill>
                  <a:srgbClr val="808080"/>
                </a:solidFill>
                <a:latin typeface="Calibri"/>
              </a:rPr>
              <a:t>  –  Drops explosive observations; all 6 regressors insignificant (p &gt; 0.25) — confirms asymmetry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59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Subgroup Results: Emerging Markets and Post-GFC Drive the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510528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808080"/>
                </a:solidFill>
                <a:latin typeface="Calibri"/>
              </a:rPr>
              <a:t>14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0"/>
              </a:spcBef>
            </a:pPr>
            <a:r>
              <a:rPr sz="1600" b="1" i="0">
                <a:solidFill>
                  <a:srgbClr val="1F3864"/>
                </a:solidFill>
                <a:latin typeface="Calibri"/>
              </a:rPr>
              <a:t>By Income Group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37360"/>
            <a:ext cx="5303520" cy="649224"/>
          </a:xfrm>
          <a:prstGeom prst="rect">
            <a:avLst/>
          </a:prstGeom>
          <a:solidFill>
            <a:srgbClr val="E8ED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595628"/>
            <a:ext cx="512064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F3864"/>
                </a:solidFill>
                <a:latin typeface="Calibri"/>
              </a:rPr>
              <a:t>Full sample</a:t>
            </a:r>
          </a:p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1F3864"/>
                </a:solidFill>
                <a:latin typeface="Calibri"/>
              </a:rPr>
              <a:t>McFadden R² = 0.050  ·  2,451 obs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423160"/>
            <a:ext cx="5303520" cy="6492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2340864"/>
            <a:ext cx="512064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F3864"/>
                </a:solidFill>
                <a:latin typeface="Calibri"/>
              </a:rPr>
              <a:t>Advanced</a:t>
            </a:r>
          </a:p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1F3864"/>
                </a:solidFill>
                <a:latin typeface="Calibri"/>
              </a:rPr>
              <a:t>McFadden R² = n/a *  ·  1,041 obs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108960"/>
            <a:ext cx="5303520" cy="649224"/>
          </a:xfrm>
          <a:prstGeom prst="rect">
            <a:avLst/>
          </a:prstGeom>
          <a:solidFill>
            <a:srgbClr val="E8ED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3012948"/>
            <a:ext cx="512064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F3864"/>
                </a:solidFill>
                <a:latin typeface="Calibri"/>
              </a:rPr>
              <a:t>Emerging markets</a:t>
            </a:r>
          </a:p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277A3C"/>
                </a:solidFill>
                <a:latin typeface="Calibri"/>
              </a:rPr>
              <a:t>McFadden R² = 0.186  ·  903 obs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009644"/>
            <a:ext cx="5303520" cy="6492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3817620"/>
            <a:ext cx="512064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l">
              <a:spcBef>
                <a:spcPts val="0"/>
              </a:spcBef>
            </a:pPr>
            <a:r>
              <a:rPr sz="1400" b="1" i="0" dirty="0">
                <a:solidFill>
                  <a:srgbClr val="1F3864"/>
                </a:solidFill>
                <a:latin typeface="Calibri"/>
              </a:rPr>
              <a:t>Low income</a:t>
            </a:r>
          </a:p>
          <a:p>
            <a:pPr algn="l">
              <a:spcBef>
                <a:spcPts val="0"/>
              </a:spcBef>
            </a:pPr>
            <a:r>
              <a:rPr sz="1300" b="0" i="0" dirty="0">
                <a:solidFill>
                  <a:srgbClr val="1F3864"/>
                </a:solidFill>
                <a:latin typeface="Calibri"/>
              </a:rPr>
              <a:t>McFadden R² = — (skipped)  ·  &lt; 5 explosive </a:t>
            </a:r>
            <a:r>
              <a:rPr sz="1300" b="0" i="0" dirty="0" err="1">
                <a:solidFill>
                  <a:srgbClr val="1F3864"/>
                </a:solidFill>
                <a:latin typeface="Calibri"/>
              </a:rPr>
              <a:t>obs</a:t>
            </a:r>
            <a:endParaRPr sz="1300" b="0" i="0" dirty="0">
              <a:solidFill>
                <a:srgbClr val="1F3864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11480" y="452628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l">
              <a:spcBef>
                <a:spcPts val="0"/>
              </a:spcBef>
            </a:pPr>
            <a:r>
              <a:rPr sz="1300" b="0" i="1" dirty="0">
                <a:solidFill>
                  <a:srgbClr val="808080"/>
                </a:solidFill>
                <a:latin typeface="Calibri"/>
              </a:rPr>
              <a:t>* Advanced: only 15 explosive </a:t>
            </a:r>
            <a:r>
              <a:rPr sz="1300" b="0" i="1" dirty="0" err="1">
                <a:solidFill>
                  <a:srgbClr val="808080"/>
                </a:solidFill>
                <a:latin typeface="Calibri"/>
              </a:rPr>
              <a:t>obs</a:t>
            </a:r>
            <a:r>
              <a:rPr sz="1300" b="0" i="1" dirty="0">
                <a:solidFill>
                  <a:srgbClr val="808080"/>
                </a:solidFill>
                <a:latin typeface="Calibri"/>
              </a:rPr>
              <a:t> — R² unreliable, marked n/a in paper.
Emerging markets: ~4× improvement over full sample.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97880" y="1280160"/>
            <a:ext cx="27432" cy="507492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080760" y="12801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0"/>
              </a:spcBef>
            </a:pPr>
            <a:r>
              <a:rPr sz="1600" b="1" i="0">
                <a:solidFill>
                  <a:srgbClr val="1F3864"/>
                </a:solidFill>
                <a:latin typeface="Calibri"/>
              </a:rPr>
              <a:t>By Time Period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1737360"/>
            <a:ext cx="5303520" cy="649224"/>
          </a:xfrm>
          <a:prstGeom prst="rect">
            <a:avLst/>
          </a:prstGeom>
          <a:solidFill>
            <a:srgbClr val="E8ED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72200" y="1595628"/>
            <a:ext cx="512064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l">
              <a:spcBef>
                <a:spcPts val="0"/>
              </a:spcBef>
            </a:pPr>
            <a:r>
              <a:rPr sz="1400" b="1" i="0" dirty="0">
                <a:solidFill>
                  <a:srgbClr val="1F3864"/>
                </a:solidFill>
                <a:latin typeface="Calibri"/>
              </a:rPr>
              <a:t>Full sample  (1985–2023)</a:t>
            </a:r>
          </a:p>
          <a:p>
            <a:pPr algn="l">
              <a:spcBef>
                <a:spcPts val="0"/>
              </a:spcBef>
            </a:pPr>
            <a:r>
              <a:rPr sz="1300" b="0" i="0" dirty="0">
                <a:solidFill>
                  <a:srgbClr val="1F3864"/>
                </a:solidFill>
                <a:latin typeface="Calibri"/>
              </a:rPr>
              <a:t>McFadden R² = 0.050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60" y="2423160"/>
            <a:ext cx="5303520" cy="6492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172200" y="2318284"/>
            <a:ext cx="512064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l">
              <a:spcBef>
                <a:spcPts val="0"/>
              </a:spcBef>
            </a:pPr>
            <a:r>
              <a:rPr sz="1400" b="1" i="0" dirty="0">
                <a:solidFill>
                  <a:srgbClr val="1F3864"/>
                </a:solidFill>
                <a:latin typeface="Calibri"/>
              </a:rPr>
              <a:t>Pre-GFC  (Before 2008)</a:t>
            </a:r>
          </a:p>
          <a:p>
            <a:pPr algn="l">
              <a:spcBef>
                <a:spcPts val="0"/>
              </a:spcBef>
            </a:pPr>
            <a:r>
              <a:rPr sz="1300" b="0" i="0" dirty="0">
                <a:solidFill>
                  <a:srgbClr val="1F3864"/>
                </a:solidFill>
                <a:latin typeface="Calibri"/>
              </a:rPr>
              <a:t>McFadden R² = 0.042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80760" y="3108960"/>
            <a:ext cx="5303520" cy="649224"/>
          </a:xfrm>
          <a:prstGeom prst="rect">
            <a:avLst/>
          </a:prstGeom>
          <a:solidFill>
            <a:srgbClr val="E8ED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72200" y="2973199"/>
            <a:ext cx="512064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l">
              <a:spcBef>
                <a:spcPts val="0"/>
              </a:spcBef>
            </a:pPr>
            <a:r>
              <a:rPr sz="1400" b="1" i="0" dirty="0">
                <a:solidFill>
                  <a:srgbClr val="1F3864"/>
                </a:solidFill>
                <a:latin typeface="Calibri"/>
              </a:rPr>
              <a:t>Post-GFC  (2008 onward)</a:t>
            </a:r>
          </a:p>
          <a:p>
            <a:pPr algn="l">
              <a:spcBef>
                <a:spcPts val="0"/>
              </a:spcBef>
            </a:pPr>
            <a:r>
              <a:rPr sz="1300" b="0" i="0" dirty="0">
                <a:solidFill>
                  <a:srgbClr val="277A3C"/>
                </a:solidFill>
                <a:latin typeface="Calibri"/>
              </a:rPr>
              <a:t>McFadden R² = 0.089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384048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0"/>
              </a:spcBef>
            </a:pPr>
            <a:r>
              <a:rPr sz="1300" b="0" i="1">
                <a:solidFill>
                  <a:srgbClr val="808080"/>
                </a:solidFill>
                <a:latin typeface="Calibri"/>
              </a:rPr>
              <a:t>Post-GFC model fit more than doubles (R²: 0.042 → 0.089).
Structural policy variables have become increasingly relevant predictors of CA regime membership since the Global Financial Crisis.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59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510528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808080"/>
                </a:solidFill>
                <a:latin typeface="Calibri"/>
              </a:rPr>
              <a:t>15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11365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0"/>
              </a:spcBef>
            </a:pPr>
            <a:r>
              <a:rPr sz="1600" b="1" i="0">
                <a:solidFill>
                  <a:srgbClr val="1F3864"/>
                </a:solidFill>
                <a:latin typeface="Calibri"/>
              </a:rPr>
              <a:t>Three principal findings: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83080"/>
            <a:ext cx="502920" cy="1252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ctr">
              <a:spcBef>
                <a:spcPts val="0"/>
              </a:spcBef>
            </a:pPr>
            <a:r>
              <a:rPr sz="2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932687" y="1783080"/>
            <a:ext cx="10844785" cy="125272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69848" y="1847088"/>
            <a:ext cx="10616184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1F3864"/>
                </a:solidFill>
                <a:latin typeface="Calibri"/>
              </a:rPr>
              <a:t>Fixed exchange rate arrangements substantially reduce explosive CA dynamics</a:t>
            </a:r>
          </a:p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1A1A2E"/>
                </a:solidFill>
                <a:latin typeface="Calibri"/>
              </a:rPr>
              <a:t>Reducing explosive regime probability by ~9 percentage points on average. Fixed pegs act as a policy commitment device that constrains destabilizing dynamics.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108960"/>
            <a:ext cx="502920" cy="1252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3383280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ctr">
              <a:spcBef>
                <a:spcPts val="0"/>
              </a:spcBef>
            </a:pPr>
            <a:r>
              <a:rPr sz="2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7" y="3108960"/>
            <a:ext cx="10844785" cy="125272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69848" y="3172968"/>
            <a:ext cx="10616184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1F3864"/>
                </a:solidFill>
                <a:latin typeface="Calibri"/>
              </a:rPr>
              <a:t>Structural variables explain explosive vs. non-explosive propensity — not within-stable-space behavior</a:t>
            </a:r>
          </a:p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1A1A2E"/>
                </a:solidFill>
                <a:latin typeface="Calibri"/>
              </a:rPr>
              <a:t>The same covariates that predict explosive entry do not distinguish stationary from unit root behavior. The model is an explosive propensity classifier.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4434840"/>
            <a:ext cx="502920" cy="1252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4709160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ctr">
              <a:spcBef>
                <a:spcPts val="0"/>
              </a:spcBef>
            </a:pPr>
            <a:r>
              <a:rPr sz="2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7" y="4434840"/>
            <a:ext cx="10844785" cy="125272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69848" y="4498848"/>
            <a:ext cx="10616184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1F3864"/>
                </a:solidFill>
                <a:latin typeface="Calibri"/>
              </a:rPr>
              <a:t>Results concentrate in emerging markets and have strengthened post-GFC</a:t>
            </a:r>
          </a:p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1A1A2E"/>
                </a:solidFill>
                <a:latin typeface="Calibri"/>
              </a:rPr>
              <a:t>McFadden R² rises from 0.05 to 0.19 for EMs. Post-GFC R² doubles. Exchange rate and trade structure are most consequential for middle-income countries.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5806440"/>
            <a:ext cx="11365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0"/>
              </a:spcBef>
            </a:pPr>
            <a:r>
              <a:rPr sz="1400" b="0" i="1">
                <a:solidFill>
                  <a:srgbClr val="808080"/>
                </a:solidFill>
                <a:latin typeface="Calibri"/>
              </a:rPr>
              <a:t>Policy implication: ER regime choice remains central for external adjustment, particularly in emerging markets. Countries with fixed pegs face stronger incentives to adjust before imbalances become explosive.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469</TotalTime>
  <Words>2062</Words>
  <Application>Microsoft Office PowerPoint</Application>
  <PresentationFormat>Custom</PresentationFormat>
  <Paragraphs>254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Eric Clower</cp:lastModifiedBy>
  <cp:revision>3</cp:revision>
  <dcterms:created xsi:type="dcterms:W3CDTF">2013-01-27T09:14:16Z</dcterms:created>
  <dcterms:modified xsi:type="dcterms:W3CDTF">2026-03-10T11:56:40Z</dcterms:modified>
  <cp:category/>
</cp:coreProperties>
</file>