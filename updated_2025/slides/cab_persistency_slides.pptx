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697480"/>
            <a:ext cx="10725912" cy="64008"/>
          </a:xfrm>
          <a:prstGeom prst="rect">
            <a:avLst/>
          </a:prstGeom>
          <a:solidFill>
            <a:srgbClr val="C9A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59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What Drives the Persistence
in Current Account Imbalances?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D8F0"/>
                </a:solidFill>
                <a:latin typeface="Calibri"/>
              </a:rPr>
              <a:t>Eric Clower  ·  Hiro Ito  ·  Jamel Saadaoui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A0B8D8"/>
                </a:solidFill>
                <a:latin typeface="Calibri"/>
              </a:rPr>
              <a:t>Aptech Systems, Inc.  ·  Portland State University  ·  Université Paris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9A027"/>
                </a:solidFill>
                <a:latin typeface="Calibri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Motivation: Why Does Persistence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65992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Global current account imbalances have grown in magnitude and dispersion since the 1980s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The cross-sectional variance of CA balances has roughly doubled since financial globalization accelerated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Persistent deficits and surpluses trigger serious policy concerns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Credit downgrades, speculative attacks on government bonds, fiscal policy constraints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Even advanced economies affected — Moody’s downgraded the US in May 2025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Standard theory is clear: the CA should revert to zero in the long run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Intertemporal budget constraint (LRBC) requires stationarity of the current account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Empirical tests produce contradictory and inconclusive results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Same country, different unit root tests, different conclusions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→  What structural factors push a country toward explosive, persistent, or self-correcting dynamics?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Our Approach: A Two-Stage Empirical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3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5303520" cy="228600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3864"/>
                </a:solidFill>
                <a:latin typeface="Calibri"/>
              </a:rPr>
              <a:t>Stage 1 — Regime Classification</a:t>
            </a:r>
          </a:p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Estimate a Markov-switching AR model for each country</a:t>
            </a:r>
          </a:p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→  Classify each country-year observation as:</a:t>
            </a:r>
          </a:p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E5BA8"/>
                </a:solidFill>
                <a:latin typeface="Calibri"/>
              </a:rPr>
              <a:t>      Explosive  |  Unit root  |  Stationary</a:t>
            </a:r>
          </a:p>
          <a:p>
            <a:pPr algn="l">
              <a:spcBef>
                <a:spcPts val="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74 countries, annual data, 1985–2023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574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C9A027"/>
                </a:solidFill>
                <a:latin typeface="Calibri"/>
              </a:rPr>
              <a:t>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280160"/>
            <a:ext cx="4892040" cy="228600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60" y="1389888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3864"/>
                </a:solidFill>
                <a:latin typeface="Calibri"/>
              </a:rPr>
              <a:t>Stage 2 — Structural Determinants</a:t>
            </a:r>
          </a:p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Estimate a multinomial logit (MNL) model</a:t>
            </a:r>
          </a:p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→  Outcome: regime from Stage 1</a:t>
            </a:r>
          </a:p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→  Explain using structural country characteristics</a:t>
            </a:r>
          </a:p>
          <a:p>
            <a:pPr algn="l">
              <a:spcBef>
                <a:spcPts val="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Cluster-robust SEs, country-level clusters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2336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Key contribution: two-stage design separates time-series characterization from cross-sectional policy analysis — regime classifications feed directly into the multinomial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Fact: Global CA Imbalances Are Larger and More Dispersed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65992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The mean absolute current account balance (% GDP) has roughly doubled since the early 1980s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Financial globalization has expanded access to external financing, relaxing short-run adjustment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The distribution of CA balances has widened over time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Median is relatively stable; the tails have grown fatter — more extreme surpluses and deficits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Sharp cyclical spikes around the GFC (2008–09) and COVID (2020–21) recessions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Followed by partial reversion, but not full convergence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Cross-country heterogeneity is pronounced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Advanced: moderate, stable imbalances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Emerging: larger cyclical swings, higher explosive frequencies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Less-developed: most volatile, least mean-reverting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→  Persistence is the norm; the extent varies systematically with country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808080"/>
                </a:solidFill>
                <a:latin typeface="Calibri"/>
              </a:rPr>
              <a:t>Figures 1–3 in paper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Theory: Sustainability Requires Stationarity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65992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The intertemporal approach provides the standard benchmark (Trehan &amp; Walsh 1991; Taylor 2002)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LRBC: current account stationarity (as % of GDP) is a necessary condition for external sustainability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Unit root → permanent shocks; Explosive → diverging dynamics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But: stationarity is a long-run property — episodes of local non-stationarity may be consistent with global sustainability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A CA may be locally explosive during a crisis yet globally sustainable if episodes are transient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Markov-switching framework handles this directly via global stationarity conditions (Psaradakis et al. 2004)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Bohn (1998) fiscal reaction-function approach: sustainability holds if the primary surplus responds positively to debt accumulation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Complements the unit root perspective: both require that adjustment mechanisms are active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→  We need a model that allows dynamics to differ across time periods within each country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Problem: Linear Unit Root Tests Give Inconsistent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65992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Standard linear tests (ADF, DFGLS, Phillips-Perron) applied to CA/GDP across 74 countries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Results are contradictory and sensitive to the choice of test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ADF and DFGLS: roughly half of countries cannot reject the unit root null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Phillips-Perron: many more rejections — same country, opposite conclusion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Root cause: linear tests assume constant AR parameters across time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When persistence or volatility shifts (policy changes, crises), linear tests confound regime changes with structural non-stationarity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We treat these results as a descriptive baseline, not a verdict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→  The correct framework must allow dynamics to change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808080"/>
                </a:solidFill>
                <a:latin typeface="Calibri"/>
              </a:rPr>
              <a:t>Figure 4 in paper | Appendix 2: country-by-country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Stage 1: Markov-Switching AR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65992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MS-AR(1) model with independently switching intercept (μ), AR coefficient (ρ), and variance (σ²)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Each component follows an independent two-state Markov chain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Allows persistence and volatility to evolve separately — critical for robust inference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Three regime types, classified by estimated persistence parameter ρ: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200400"/>
            <a:ext cx="3383280" cy="1234440"/>
          </a:xfrm>
          <a:prstGeom prst="rect">
            <a:avLst/>
          </a:prstGeom>
          <a:solidFill>
            <a:srgbClr val="27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3310128"/>
            <a:ext cx="3163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Stationary</a:t>
            </a:r>
          </a:p>
          <a:p>
            <a:pPr algn="ctr">
              <a:spcBef>
                <a:spcPts val="0"/>
              </a:spcBef>
            </a:pPr>
            <a:r>
              <a:rPr sz="1500" b="0" i="0">
                <a:solidFill>
                  <a:srgbClr val="FFFFFF"/>
                </a:solidFill>
                <a:latin typeface="Calibri"/>
              </a:rPr>
              <a:t>|ρ| &lt;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3200400"/>
            <a:ext cx="3383280" cy="1234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78808" y="3310128"/>
            <a:ext cx="3163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Unit Root</a:t>
            </a:r>
          </a:p>
          <a:p>
            <a:pPr algn="ctr">
              <a:spcBef>
                <a:spcPts val="0"/>
              </a:spcBef>
            </a:pPr>
            <a:r>
              <a:rPr sz="1500" b="0" i="0">
                <a:solidFill>
                  <a:srgbClr val="FFFFFF"/>
                </a:solidFill>
                <a:latin typeface="Calibri"/>
              </a:rPr>
              <a:t>ρ ≈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80" y="3200400"/>
            <a:ext cx="3383280" cy="1234440"/>
          </a:xfrm>
          <a:prstGeom prst="rect">
            <a:avLst/>
          </a:prstGeom>
          <a:solidFill>
            <a:srgbClr val="E8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3310128"/>
            <a:ext cx="3163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Explosive</a:t>
            </a:r>
          </a:p>
          <a:p>
            <a:pPr algn="ctr">
              <a:spcBef>
                <a:spcPts val="0"/>
              </a:spcBef>
            </a:pPr>
            <a:r>
              <a:rPr sz="1500" b="0" i="0">
                <a:solidFill>
                  <a:srgbClr val="FFFFFF"/>
                </a:solidFill>
                <a:latin typeface="Calibri"/>
              </a:rPr>
              <a:t>|ρ| &gt;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617720"/>
            <a:ext cx="113659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•  Parametric bootstrap hypothesis tests (1,000 replications) for each country</a:t>
            </a:r>
          </a:p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•  Global stationarity assessed via second-order conditions (Psaradakis et al. 2004)</a:t>
            </a:r>
          </a:p>
          <a:p>
            <a:pPr algn="l">
              <a:spcBef>
                <a:spcPts val="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  •  Reference: Morita, Psaradakis, Sola &amp; Yunis (2024); Hall, Psaradakis &amp; Sola (1999)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Stage 1 Results: Most Country-Years Are in the Unit Root Regime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8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3383280" cy="1554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57%</a:t>
            </a:r>
          </a:p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FFFFFF"/>
                </a:solidFill>
                <a:latin typeface="Calibri"/>
              </a:rPr>
              <a:t>Unit Root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371600"/>
            <a:ext cx="3383280" cy="1554480"/>
          </a:xfrm>
          <a:prstGeom prst="rect">
            <a:avLst/>
          </a:prstGeom>
          <a:solidFill>
            <a:srgbClr val="27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444752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38%</a:t>
            </a:r>
          </a:p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FFFFFF"/>
                </a:solidFill>
                <a:latin typeface="Calibri"/>
              </a:rPr>
              <a:t>Stationary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371600"/>
            <a:ext cx="3383280" cy="1554480"/>
          </a:xfrm>
          <a:prstGeom prst="rect">
            <a:avLst/>
          </a:prstGeom>
          <a:solidFill>
            <a:srgbClr val="E8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1444752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5%</a:t>
            </a:r>
          </a:p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FFFFFF"/>
                </a:solidFill>
                <a:latin typeface="Calibri"/>
              </a:rPr>
              <a:t>Explosive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54680"/>
            <a:ext cx="11365992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Unit root regime is the modal state: CA dynamics are highly persistent but not diverging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Explosive episodes are episodic, not chronic — consistent with temporary adjustment crises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Concentrated around the GFC (2008–09), COVID (2020–21), and EM stress periods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Stationary behavior is substantial (~38%) — many country-years do exhibit mean reversion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→  Significant cross-country and time variation to explain in 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00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808080"/>
                </a:solidFill>
                <a:latin typeface="Calibri"/>
              </a:rPr>
              <a:t>Figure 5 in paper | Quarterly observations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Regime Dynamics Differ Systematically Across Country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3864"/>
                </a:solidFill>
                <a:latin typeface="Calibri"/>
              </a:rPr>
              <a:t>Income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5303520" cy="7315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Advanced economies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54% UnitR  |  45% Stat  |   1% Expl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514600"/>
            <a:ext cx="5303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Emerging markets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56% UnitR  |  32% Stat  |  12% Expl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291840"/>
            <a:ext cx="5303520" cy="7315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Less-developed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Similar to emerging; elevated explosive share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280160"/>
            <a:ext cx="27432" cy="5074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3864"/>
                </a:solidFill>
                <a:latin typeface="Calibri"/>
              </a:rPr>
              <a:t>Time Evolution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737360"/>
            <a:ext cx="53035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•  Explosive episodes cluster around identifiable crises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808080"/>
                </a:solidFill>
                <a:latin typeface="Calibri"/>
              </a:rPr>
              <a:t>       GFC (2008–09)  |  Euro crisis (2010–12)  |  COVID (2020–21)</a:t>
            </a:r>
          </a:p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•  Unit root share rises steadily post-GFC</a:t>
            </a:r>
          </a:p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•  Regional patterns: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808080"/>
                </a:solidFill>
                <a:latin typeface="Calibri"/>
              </a:rPr>
              <a:t>       Latin America: highest unit root share (62%)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808080"/>
                </a:solidFill>
                <a:latin typeface="Calibri"/>
              </a:rPr>
              <a:t>       East Asia: comparatively stable, lower explosive frequency</a:t>
            </a:r>
          </a:p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•  Advanced economies almost never enter explosive regime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00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808080"/>
                </a:solidFill>
                <a:latin typeface="Calibri"/>
              </a:rPr>
              <a:t>Figures 6–7 in paper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Stage 2: Multinomial Logit (MNL)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10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11365992" cy="658368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3864"/>
                </a:solidFill>
                <a:latin typeface="Calibri"/>
              </a:rPr>
              <a:t>Outcome: regime classification from Stage 1  →  Explosive (reference)  |  Stationary  |  Unit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F3864"/>
                </a:solidFill>
                <a:latin typeface="Calibri"/>
              </a:rPr>
              <a:t>Six structural regressors: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68880"/>
            <a:ext cx="1136599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505456"/>
            <a:ext cx="111831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1A1A2E"/>
                </a:solidFill>
                <a:latin typeface="Calibri"/>
              </a:rPr>
              <a:t>Fixed exchange rate (dummy):  1 if fixed/pegged arrangement in year t  (Ilzetzki, Reinhart &amp; Rogoff)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44368"/>
            <a:ext cx="113659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111831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1A1A2E"/>
                </a:solidFill>
                <a:latin typeface="Calibri"/>
              </a:rPr>
              <a:t>Current account deficit (dummy):  1 if country ran a CA deficit in year 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419856"/>
            <a:ext cx="1136599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456432"/>
            <a:ext cx="111831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1A1A2E"/>
                </a:solidFill>
                <a:latin typeface="Calibri"/>
              </a:rPr>
              <a:t>Commodity exporter (dummy):  1 if primary commodity exporter (terms-of-trade volatility exposure)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895344"/>
            <a:ext cx="113659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931920"/>
            <a:ext cx="111831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1A1A2E"/>
                </a:solidFill>
                <a:latin typeface="Calibri"/>
              </a:rPr>
              <a:t>Manufacturing exporter (dummy):  1 if manufactured goods are the primary export 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370832"/>
            <a:ext cx="1136599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407408"/>
            <a:ext cx="111831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1A1A2E"/>
                </a:solidFill>
                <a:latin typeface="Calibri"/>
              </a:rPr>
              <a:t>Trade openness (lagged, t−1):  Total trade / GDP, lagged one period to reduce simultaneity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846320"/>
            <a:ext cx="113659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882896"/>
            <a:ext cx="111831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1A1A2E"/>
                </a:solidFill>
                <a:latin typeface="Calibri"/>
              </a:rPr>
              <a:t>Fiscal balance (3-yr avg, lagged):  General gov’t balance / GDP, 3-yr moving avg, lagged one period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36752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0" i="1">
                <a:solidFill>
                  <a:srgbClr val="808080"/>
                </a:solidFill>
                <a:latin typeface="Calibri"/>
              </a:rPr>
              <a:t>74 countries · 2,451 observations · cluster-robust SEs (country level) · reference category: Explosive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Baseline Results: Fixed ER and Manufacturing Exports Are Key Predictors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F3864"/>
                </a:solidFill>
                <a:latin typeface="Calibri"/>
              </a:rPr>
              <a:t>MNL coefficients (explosive = reference) — Table 4 in paper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1136599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28216"/>
            <a:ext cx="11183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Regressor                             Stationary vs Explosive  Unit Root vs Explosive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39112"/>
            <a:ext cx="11365992" cy="47548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121408"/>
            <a:ext cx="11183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alibri"/>
              </a:rPr>
              <a:t>Fixed exchange rate                      +  *** (large)            +  *** (large)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514600"/>
            <a:ext cx="1136599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596896"/>
            <a:ext cx="11183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alibri"/>
              </a:rPr>
              <a:t>Manufacturing exporter                       +  ***                    +  **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90088"/>
            <a:ext cx="11365992" cy="47548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072384"/>
            <a:ext cx="11183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alibri"/>
              </a:rPr>
              <a:t>Trade openness (t−1)                         −  **                      −  *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465576"/>
            <a:ext cx="1136599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547872"/>
            <a:ext cx="11183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alibri"/>
              </a:rPr>
              <a:t>Current account deficit                       n.s.                      n.s.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41064"/>
            <a:ext cx="11365992" cy="47548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023360"/>
            <a:ext cx="11183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alibri"/>
              </a:rPr>
              <a:t>Commodity exporter                            n.s.                      n.s.         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16552"/>
            <a:ext cx="1136599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498848"/>
            <a:ext cx="11183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alibri"/>
              </a:rPr>
              <a:t>Fiscal balance (t−1)                          n.s.                      n.s.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00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808080"/>
                </a:solidFill>
                <a:latin typeface="Calibri"/>
              </a:rPr>
              <a:t>*p&lt;0.10  **p&lt;0.05  ***p&lt;0.01  ·  cluster-robust SEs  ·  n.s. = not significant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Average Marginal Effects: Fixed ER Reduces Explosive Probability by ~9 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12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3520440" cy="1325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444752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−9.1 pp</a:t>
            </a:r>
          </a:p>
          <a:p>
            <a:pPr algn="ctr">
              <a:spcBef>
                <a:spcPts val="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Fixed ER → Explosive prob.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371600"/>
            <a:ext cx="3520440" cy="1325880"/>
          </a:xfrm>
          <a:prstGeom prst="rect">
            <a:avLst/>
          </a:prstGeom>
          <a:solidFill>
            <a:srgbClr val="27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8" y="1444752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+5.9 pp</a:t>
            </a:r>
          </a:p>
          <a:p>
            <a:pPr algn="ctr">
              <a:spcBef>
                <a:spcPts val="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Fixed ER → Stationary prob.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1371600"/>
            <a:ext cx="3520440" cy="1325880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444752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+3.2 pp</a:t>
            </a:r>
          </a:p>
          <a:p>
            <a:pPr algn="ctr">
              <a:spcBef>
                <a:spcPts val="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Fixed ER → Unit root prob.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0360"/>
            <a:ext cx="11365992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Fixed exchange rate is the dominant predictor — reduces explosive probability by ~9 percentage points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Consistent with the disciplining role of exchange rate pegs: defending the peg forces external adjustment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Manufacturing exporter: significant negative effect on explosive probability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No other covariate generates a statistically significant marginal effect on any regime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→  KEY ASYMMETRY: Structural variables explain explosive vs. non-explosive propensity,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but do NOT distinguish stationary from unit root behavior within the stable regime space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Binary logit (stationary vs. unit root only): all 6 regressors insignificant (p &gt; 0.25)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00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808080"/>
                </a:solidFill>
                <a:latin typeface="Calibri"/>
              </a:rPr>
              <a:t>Table 5 (AMEs) in paper · statistical significance based on cluster-robust 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Robustness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65992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Lagged exchange rate regime (endogeneity concern)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Re-estimate with fixed_er lagged one period → results unchanged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Addresses concern that ER regime is simultaneously determined with CA dynamics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Year fixed effects and global crisis dummies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Models with annual time dummies: consistently higher BIC — global shocks do not dominate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Explicit GFC (2008–09) and COVID (2020–21) dummies: do not improve fit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Oil exporters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Narrow oil exporter dummy covers only 40 observations — too few for full MNL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Regime distribution is distinctive: 33% explosive, 68% stationary, 0% unit root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Cross-validation (country-grouped 5-fold)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Countries (not rows) assigned to folds — prevents data leakage across country time series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Baseline model achieves solid out-of-sample log-loss; lagged ER performs similarly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1A1A2E"/>
                </a:solidFill>
                <a:latin typeface="Calibri"/>
              </a:rPr>
              <a:t>  •  Binary logit (stationary vs. unit root)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808080"/>
                </a:solidFill>
                <a:latin typeface="Calibri"/>
              </a:rPr>
              <a:t>  –  Drops explosive observations; all 6 regressors insignificant (p &gt; 0.25) — confirms asymmetry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Subgroup Results: Emerging Markets and Post-GFC Drive the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3864"/>
                </a:solidFill>
                <a:latin typeface="Calibri"/>
              </a:rPr>
              <a:t>By Income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5303520" cy="6492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95628"/>
            <a:ext cx="51206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Full sample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1F3864"/>
                </a:solidFill>
                <a:latin typeface="Calibri"/>
              </a:rPr>
              <a:t>McFadden R² = 0.050  ·  2,451 obs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23160"/>
            <a:ext cx="530352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340864"/>
            <a:ext cx="51206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Advanced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1F3864"/>
                </a:solidFill>
                <a:latin typeface="Calibri"/>
              </a:rPr>
              <a:t>McFadden R² = n/a *  ·  1,041 obs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108960"/>
            <a:ext cx="5303520" cy="6492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012948"/>
            <a:ext cx="51206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Emerging markets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277A3C"/>
                </a:solidFill>
                <a:latin typeface="Calibri"/>
              </a:rPr>
              <a:t>McFadden R² = 0.186  ·  903 obs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794760"/>
            <a:ext cx="530352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603762"/>
            <a:ext cx="51206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400" b="1" i="0" dirty="0">
                <a:solidFill>
                  <a:srgbClr val="1F3864"/>
                </a:solidFill>
                <a:latin typeface="Calibri"/>
              </a:rPr>
              <a:t>Low income</a:t>
            </a:r>
          </a:p>
          <a:p>
            <a:pPr algn="l">
              <a:spcBef>
                <a:spcPts val="0"/>
              </a:spcBef>
            </a:pPr>
            <a:r>
              <a:rPr sz="1300" b="0" i="0" dirty="0">
                <a:solidFill>
                  <a:srgbClr val="1F3864"/>
                </a:solidFill>
                <a:latin typeface="Calibri"/>
              </a:rPr>
              <a:t>McFadden R² = — (skipped)  ·  &lt; 5 explosive </a:t>
            </a:r>
            <a:r>
              <a:rPr sz="1300" b="0" i="0" dirty="0" err="1">
                <a:solidFill>
                  <a:srgbClr val="1F3864"/>
                </a:solidFill>
                <a:latin typeface="Calibri"/>
              </a:rPr>
              <a:t>obs</a:t>
            </a:r>
            <a:endParaRPr sz="1300" b="0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1480" y="4526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300" b="0" i="1" dirty="0">
                <a:solidFill>
                  <a:srgbClr val="808080"/>
                </a:solidFill>
                <a:latin typeface="Calibri"/>
              </a:rPr>
              <a:t>* Advanced: only 15 explosive </a:t>
            </a:r>
            <a:r>
              <a:rPr sz="1300" b="0" i="1" dirty="0" err="1">
                <a:solidFill>
                  <a:srgbClr val="808080"/>
                </a:solidFill>
                <a:latin typeface="Calibri"/>
              </a:rPr>
              <a:t>obs</a:t>
            </a:r>
            <a:r>
              <a:rPr sz="1300" b="0" i="1" dirty="0">
                <a:solidFill>
                  <a:srgbClr val="808080"/>
                </a:solidFill>
                <a:latin typeface="Calibri"/>
              </a:rPr>
              <a:t> — R² unreliable, marked n/a in paper.
Emerging markets: ~4× improvement over full sample.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280160"/>
            <a:ext cx="27432" cy="5074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8076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3864"/>
                </a:solidFill>
                <a:latin typeface="Calibri"/>
              </a:rPr>
              <a:t>By Time Period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737360"/>
            <a:ext cx="5303520" cy="6492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1595628"/>
            <a:ext cx="51206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400" b="1" i="0" dirty="0">
                <a:solidFill>
                  <a:srgbClr val="1F3864"/>
                </a:solidFill>
                <a:latin typeface="Calibri"/>
              </a:rPr>
              <a:t>Full sample  (1985–2023)</a:t>
            </a:r>
          </a:p>
          <a:p>
            <a:pPr algn="l">
              <a:spcBef>
                <a:spcPts val="0"/>
              </a:spcBef>
            </a:pPr>
            <a:r>
              <a:rPr sz="1300" b="0" i="0" dirty="0">
                <a:solidFill>
                  <a:srgbClr val="1F3864"/>
                </a:solidFill>
                <a:latin typeface="Calibri"/>
              </a:rPr>
              <a:t>McFadden R² = 0.050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423160"/>
            <a:ext cx="530352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2318284"/>
            <a:ext cx="51206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400" b="1" i="0" dirty="0">
                <a:solidFill>
                  <a:srgbClr val="1F3864"/>
                </a:solidFill>
                <a:latin typeface="Calibri"/>
              </a:rPr>
              <a:t>Pre-GFC  (Before 2008)</a:t>
            </a:r>
          </a:p>
          <a:p>
            <a:pPr algn="l">
              <a:spcBef>
                <a:spcPts val="0"/>
              </a:spcBef>
            </a:pPr>
            <a:r>
              <a:rPr sz="1300" b="0" i="0" dirty="0">
                <a:solidFill>
                  <a:srgbClr val="1F3864"/>
                </a:solidFill>
                <a:latin typeface="Calibri"/>
              </a:rPr>
              <a:t>McFadden R² = 0.042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108960"/>
            <a:ext cx="5303520" cy="649224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2973199"/>
            <a:ext cx="51206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400" b="1" i="0" dirty="0">
                <a:solidFill>
                  <a:srgbClr val="1F3864"/>
                </a:solidFill>
                <a:latin typeface="Calibri"/>
              </a:rPr>
              <a:t>Post-GFC  (2008 onward)</a:t>
            </a:r>
          </a:p>
          <a:p>
            <a:pPr algn="l">
              <a:spcBef>
                <a:spcPts val="0"/>
              </a:spcBef>
            </a:pPr>
            <a:r>
              <a:rPr sz="1300" b="0" i="0" dirty="0">
                <a:solidFill>
                  <a:srgbClr val="277A3C"/>
                </a:solidFill>
                <a:latin typeface="Calibri"/>
              </a:rPr>
              <a:t>McFadden R² = 0.089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8404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0" i="1">
                <a:solidFill>
                  <a:srgbClr val="808080"/>
                </a:solidFill>
                <a:latin typeface="Calibri"/>
              </a:rPr>
              <a:t>Post-GFC model fit more than doubles (R²: 0.042 → 0.089).
Structural policy variables have become increasingly relevant predictors of CA regime membership since the Global Financial Crisis.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510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Calibri"/>
              </a:rPr>
              <a:t>15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3864"/>
                </a:solidFill>
                <a:latin typeface="Calibri"/>
              </a:rPr>
              <a:t>Three principal findings: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83080"/>
            <a:ext cx="502920" cy="1252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7" y="1783080"/>
            <a:ext cx="10844785" cy="125272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847088"/>
            <a:ext cx="106161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F3864"/>
                </a:solidFill>
                <a:latin typeface="Calibri"/>
              </a:rPr>
              <a:t>Fixed exchange rate arrangements substantially reduce explosive CA dynamics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Reducing explosive regime probability by ~9 percentage points on average. Fixed pegs act as a policy commitment device that constrains destabilizing dynamics.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108960"/>
            <a:ext cx="502920" cy="1252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7" y="3108960"/>
            <a:ext cx="10844785" cy="125272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3172968"/>
            <a:ext cx="106161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F3864"/>
                </a:solidFill>
                <a:latin typeface="Calibri"/>
              </a:rPr>
              <a:t>Structural variables explain explosive vs. non-explosive propensity — not within-stable-space behavior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The same covariates that predict explosive entry do not distinguish stationary from unit root behavior. The model is an explosive propensity classifier.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434840"/>
            <a:ext cx="502920" cy="1252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7" y="4434840"/>
            <a:ext cx="10844785" cy="125272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4498848"/>
            <a:ext cx="106161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F3864"/>
                </a:solidFill>
                <a:latin typeface="Calibri"/>
              </a:rPr>
              <a:t>Results concentrate in emerging markets and have strengthened post-GFC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1A1A2E"/>
                </a:solidFill>
                <a:latin typeface="Calibri"/>
              </a:rPr>
              <a:t>McFadden R² rises from 0.05 to 0.19 for EMs. Post-GFC R² doubles. Exchange rate and trade structure are most consequential for middle-income countries.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80644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Policy implication: ER regime choice remains central for external adjustment, particularly in emerging markets. Countries with fixed pegs face stronger incentives to adjust before imbalances become explosive.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2054</Words>
  <Application>Microsoft Office PowerPoint</Application>
  <PresentationFormat>Custom</PresentationFormat>
  <Paragraphs>254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Eric Clower</cp:lastModifiedBy>
  <cp:revision>2</cp:revision>
  <dcterms:created xsi:type="dcterms:W3CDTF">2013-01-27T09:14:16Z</dcterms:created>
  <dcterms:modified xsi:type="dcterms:W3CDTF">2026-03-09T19:27:51Z</dcterms:modified>
  <cp:category/>
</cp:coreProperties>
</file>